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70D21-8A54-4F8B-0CC4-A3D01786D8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E8C77DC-F020-4F71-7194-012D7CCABE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3FD357A-A567-BF0C-1B6B-C692AD6DFB73}"/>
              </a:ext>
            </a:extLst>
          </p:cNvPr>
          <p:cNvSpPr>
            <a:spLocks noGrp="1"/>
          </p:cNvSpPr>
          <p:nvPr>
            <p:ph type="dt" sz="half" idx="10"/>
          </p:nvPr>
        </p:nvSpPr>
        <p:spPr/>
        <p:txBody>
          <a:bodyPr/>
          <a:lstStyle/>
          <a:p>
            <a:fld id="{305B6819-6CB8-4D20-98C4-B487C2EE1C64}" type="datetimeFigureOut">
              <a:rPr lang="en-IN" smtClean="0"/>
              <a:t>22-07-2026</a:t>
            </a:fld>
            <a:endParaRPr lang="en-IN"/>
          </a:p>
        </p:txBody>
      </p:sp>
      <p:sp>
        <p:nvSpPr>
          <p:cNvPr id="5" name="Footer Placeholder 4">
            <a:extLst>
              <a:ext uri="{FF2B5EF4-FFF2-40B4-BE49-F238E27FC236}">
                <a16:creationId xmlns:a16="http://schemas.microsoft.com/office/drawing/2014/main" id="{31802664-5A52-E0F9-A87B-7586DF5FB7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0C8E4D-72CA-06FF-56EC-00282189F58D}"/>
              </a:ext>
            </a:extLst>
          </p:cNvPr>
          <p:cNvSpPr>
            <a:spLocks noGrp="1"/>
          </p:cNvSpPr>
          <p:nvPr>
            <p:ph type="sldNum" sz="quarter" idx="12"/>
          </p:nvPr>
        </p:nvSpPr>
        <p:spPr/>
        <p:txBody>
          <a:bodyPr/>
          <a:lstStyle/>
          <a:p>
            <a:fld id="{5918E6F1-9EC8-42AF-887F-C17768B6FD3D}" type="slidenum">
              <a:rPr lang="en-IN" smtClean="0"/>
              <a:t>‹#›</a:t>
            </a:fld>
            <a:endParaRPr lang="en-IN"/>
          </a:p>
        </p:txBody>
      </p:sp>
    </p:spTree>
    <p:extLst>
      <p:ext uri="{BB962C8B-B14F-4D97-AF65-F5344CB8AC3E}">
        <p14:creationId xmlns:p14="http://schemas.microsoft.com/office/powerpoint/2010/main" val="311541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5087F-ED56-0B0C-ACFA-150D799F4F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149723-3E75-02B9-9D6A-0871BD4667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176FD2-90B2-628F-CCC0-C4262C76FF33}"/>
              </a:ext>
            </a:extLst>
          </p:cNvPr>
          <p:cNvSpPr>
            <a:spLocks noGrp="1"/>
          </p:cNvSpPr>
          <p:nvPr>
            <p:ph type="dt" sz="half" idx="10"/>
          </p:nvPr>
        </p:nvSpPr>
        <p:spPr/>
        <p:txBody>
          <a:bodyPr/>
          <a:lstStyle/>
          <a:p>
            <a:fld id="{305B6819-6CB8-4D20-98C4-B487C2EE1C64}" type="datetimeFigureOut">
              <a:rPr lang="en-IN" smtClean="0"/>
              <a:t>22-07-2026</a:t>
            </a:fld>
            <a:endParaRPr lang="en-IN"/>
          </a:p>
        </p:txBody>
      </p:sp>
      <p:sp>
        <p:nvSpPr>
          <p:cNvPr id="5" name="Footer Placeholder 4">
            <a:extLst>
              <a:ext uri="{FF2B5EF4-FFF2-40B4-BE49-F238E27FC236}">
                <a16:creationId xmlns:a16="http://schemas.microsoft.com/office/drawing/2014/main" id="{ECBCBB46-13CD-A375-B6DB-828A4340B2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3B3DFE-0272-4D28-CB52-094AE61DFE4F}"/>
              </a:ext>
            </a:extLst>
          </p:cNvPr>
          <p:cNvSpPr>
            <a:spLocks noGrp="1"/>
          </p:cNvSpPr>
          <p:nvPr>
            <p:ph type="sldNum" sz="quarter" idx="12"/>
          </p:nvPr>
        </p:nvSpPr>
        <p:spPr/>
        <p:txBody>
          <a:bodyPr/>
          <a:lstStyle/>
          <a:p>
            <a:fld id="{5918E6F1-9EC8-42AF-887F-C17768B6FD3D}" type="slidenum">
              <a:rPr lang="en-IN" smtClean="0"/>
              <a:t>‹#›</a:t>
            </a:fld>
            <a:endParaRPr lang="en-IN"/>
          </a:p>
        </p:txBody>
      </p:sp>
    </p:spTree>
    <p:extLst>
      <p:ext uri="{BB962C8B-B14F-4D97-AF65-F5344CB8AC3E}">
        <p14:creationId xmlns:p14="http://schemas.microsoft.com/office/powerpoint/2010/main" val="1881711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085C0-CEB6-7E6D-0074-C82DF7C5FF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25F665-86A0-2C29-888A-487A323262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38C0DE-9AA9-60F0-FC8B-E0AE1C4CEA52}"/>
              </a:ext>
            </a:extLst>
          </p:cNvPr>
          <p:cNvSpPr>
            <a:spLocks noGrp="1"/>
          </p:cNvSpPr>
          <p:nvPr>
            <p:ph type="dt" sz="half" idx="10"/>
          </p:nvPr>
        </p:nvSpPr>
        <p:spPr/>
        <p:txBody>
          <a:bodyPr/>
          <a:lstStyle/>
          <a:p>
            <a:fld id="{305B6819-6CB8-4D20-98C4-B487C2EE1C64}" type="datetimeFigureOut">
              <a:rPr lang="en-IN" smtClean="0"/>
              <a:t>22-07-2026</a:t>
            </a:fld>
            <a:endParaRPr lang="en-IN"/>
          </a:p>
        </p:txBody>
      </p:sp>
      <p:sp>
        <p:nvSpPr>
          <p:cNvPr id="5" name="Footer Placeholder 4">
            <a:extLst>
              <a:ext uri="{FF2B5EF4-FFF2-40B4-BE49-F238E27FC236}">
                <a16:creationId xmlns:a16="http://schemas.microsoft.com/office/drawing/2014/main" id="{415C1642-FA82-4EA9-439B-8D475BF152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7217C1-89AC-3354-DF2C-B8434FBB3EA5}"/>
              </a:ext>
            </a:extLst>
          </p:cNvPr>
          <p:cNvSpPr>
            <a:spLocks noGrp="1"/>
          </p:cNvSpPr>
          <p:nvPr>
            <p:ph type="sldNum" sz="quarter" idx="12"/>
          </p:nvPr>
        </p:nvSpPr>
        <p:spPr/>
        <p:txBody>
          <a:bodyPr/>
          <a:lstStyle/>
          <a:p>
            <a:fld id="{5918E6F1-9EC8-42AF-887F-C17768B6FD3D}" type="slidenum">
              <a:rPr lang="en-IN" smtClean="0"/>
              <a:t>‹#›</a:t>
            </a:fld>
            <a:endParaRPr lang="en-IN"/>
          </a:p>
        </p:txBody>
      </p:sp>
    </p:spTree>
    <p:extLst>
      <p:ext uri="{BB962C8B-B14F-4D97-AF65-F5344CB8AC3E}">
        <p14:creationId xmlns:p14="http://schemas.microsoft.com/office/powerpoint/2010/main" val="2369304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6030E-6FFA-5729-294F-8251CA44D4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08CBC1-F77D-49DA-8B58-AECD8DA1C0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8999BFB-4914-BCAE-9182-F527BDD569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EE50A8-248C-8E3C-5E05-8425FB773E69}"/>
              </a:ext>
            </a:extLst>
          </p:cNvPr>
          <p:cNvSpPr>
            <a:spLocks noGrp="1"/>
          </p:cNvSpPr>
          <p:nvPr>
            <p:ph type="dt" sz="half" idx="10"/>
          </p:nvPr>
        </p:nvSpPr>
        <p:spPr/>
        <p:txBody>
          <a:bodyPr/>
          <a:lstStyle/>
          <a:p>
            <a:fld id="{305B6819-6CB8-4D20-98C4-B487C2EE1C64}" type="datetimeFigureOut">
              <a:rPr lang="en-IN" smtClean="0"/>
              <a:t>22-07-2026</a:t>
            </a:fld>
            <a:endParaRPr lang="en-IN"/>
          </a:p>
        </p:txBody>
      </p:sp>
      <p:sp>
        <p:nvSpPr>
          <p:cNvPr id="6" name="Footer Placeholder 5">
            <a:extLst>
              <a:ext uri="{FF2B5EF4-FFF2-40B4-BE49-F238E27FC236}">
                <a16:creationId xmlns:a16="http://schemas.microsoft.com/office/drawing/2014/main" id="{A448BA7C-6E21-EA3E-A5DD-D9C79B136E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7F4BDD-EAF8-2CB5-E786-FCE0B2F4FCD2}"/>
              </a:ext>
            </a:extLst>
          </p:cNvPr>
          <p:cNvSpPr>
            <a:spLocks noGrp="1"/>
          </p:cNvSpPr>
          <p:nvPr>
            <p:ph type="sldNum" sz="quarter" idx="12"/>
          </p:nvPr>
        </p:nvSpPr>
        <p:spPr/>
        <p:txBody>
          <a:bodyPr/>
          <a:lstStyle/>
          <a:p>
            <a:fld id="{5918E6F1-9EC8-42AF-887F-C17768B6FD3D}" type="slidenum">
              <a:rPr lang="en-IN" smtClean="0"/>
              <a:t>‹#›</a:t>
            </a:fld>
            <a:endParaRPr lang="en-IN"/>
          </a:p>
        </p:txBody>
      </p:sp>
    </p:spTree>
    <p:extLst>
      <p:ext uri="{BB962C8B-B14F-4D97-AF65-F5344CB8AC3E}">
        <p14:creationId xmlns:p14="http://schemas.microsoft.com/office/powerpoint/2010/main" val="3171149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E3B70-FD08-AA89-1CA5-04B02EC246D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3923D5-06AA-3C3B-BDD0-C20D4A77FE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F3861D2-D978-4CE9-471F-B7803E5FAF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E5FC46-9EC6-FA87-6671-EF3CD1B32C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554DD-0BE2-3228-F9B1-E346F99396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DF0265C-D95D-14D8-98E5-2AAF966976DF}"/>
              </a:ext>
            </a:extLst>
          </p:cNvPr>
          <p:cNvSpPr>
            <a:spLocks noGrp="1"/>
          </p:cNvSpPr>
          <p:nvPr>
            <p:ph type="dt" sz="half" idx="10"/>
          </p:nvPr>
        </p:nvSpPr>
        <p:spPr/>
        <p:txBody>
          <a:bodyPr/>
          <a:lstStyle/>
          <a:p>
            <a:fld id="{305B6819-6CB8-4D20-98C4-B487C2EE1C64}" type="datetimeFigureOut">
              <a:rPr lang="en-IN" smtClean="0"/>
              <a:t>22-07-2026</a:t>
            </a:fld>
            <a:endParaRPr lang="en-IN"/>
          </a:p>
        </p:txBody>
      </p:sp>
      <p:sp>
        <p:nvSpPr>
          <p:cNvPr id="8" name="Footer Placeholder 7">
            <a:extLst>
              <a:ext uri="{FF2B5EF4-FFF2-40B4-BE49-F238E27FC236}">
                <a16:creationId xmlns:a16="http://schemas.microsoft.com/office/drawing/2014/main" id="{B822766E-F0E8-12C5-A1FE-0C74E0AE63D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73331C9-4686-D957-AF25-A01F862DCDE7}"/>
              </a:ext>
            </a:extLst>
          </p:cNvPr>
          <p:cNvSpPr>
            <a:spLocks noGrp="1"/>
          </p:cNvSpPr>
          <p:nvPr>
            <p:ph type="sldNum" sz="quarter" idx="12"/>
          </p:nvPr>
        </p:nvSpPr>
        <p:spPr/>
        <p:txBody>
          <a:bodyPr/>
          <a:lstStyle/>
          <a:p>
            <a:fld id="{5918E6F1-9EC8-42AF-887F-C17768B6FD3D}" type="slidenum">
              <a:rPr lang="en-IN" smtClean="0"/>
              <a:t>‹#›</a:t>
            </a:fld>
            <a:endParaRPr lang="en-IN"/>
          </a:p>
        </p:txBody>
      </p:sp>
    </p:spTree>
    <p:extLst>
      <p:ext uri="{BB962C8B-B14F-4D97-AF65-F5344CB8AC3E}">
        <p14:creationId xmlns:p14="http://schemas.microsoft.com/office/powerpoint/2010/main" val="3069545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E8747-0B6A-3AA8-2F24-E7AC83CADB4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A11C62-DFC7-D1B6-5202-2EBC181B1D8C}"/>
              </a:ext>
            </a:extLst>
          </p:cNvPr>
          <p:cNvSpPr>
            <a:spLocks noGrp="1"/>
          </p:cNvSpPr>
          <p:nvPr>
            <p:ph type="dt" sz="half" idx="10"/>
          </p:nvPr>
        </p:nvSpPr>
        <p:spPr/>
        <p:txBody>
          <a:bodyPr/>
          <a:lstStyle/>
          <a:p>
            <a:fld id="{305B6819-6CB8-4D20-98C4-B487C2EE1C64}" type="datetimeFigureOut">
              <a:rPr lang="en-IN" smtClean="0"/>
              <a:t>22-07-2026</a:t>
            </a:fld>
            <a:endParaRPr lang="en-IN"/>
          </a:p>
        </p:txBody>
      </p:sp>
      <p:sp>
        <p:nvSpPr>
          <p:cNvPr id="4" name="Footer Placeholder 3">
            <a:extLst>
              <a:ext uri="{FF2B5EF4-FFF2-40B4-BE49-F238E27FC236}">
                <a16:creationId xmlns:a16="http://schemas.microsoft.com/office/drawing/2014/main" id="{266C6C77-2EB6-63E2-3B81-D6AED3B768D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7AFDBC0-6CED-B759-BFE1-3F7A746A88C5}"/>
              </a:ext>
            </a:extLst>
          </p:cNvPr>
          <p:cNvSpPr>
            <a:spLocks noGrp="1"/>
          </p:cNvSpPr>
          <p:nvPr>
            <p:ph type="sldNum" sz="quarter" idx="12"/>
          </p:nvPr>
        </p:nvSpPr>
        <p:spPr/>
        <p:txBody>
          <a:bodyPr/>
          <a:lstStyle/>
          <a:p>
            <a:fld id="{5918E6F1-9EC8-42AF-887F-C17768B6FD3D}" type="slidenum">
              <a:rPr lang="en-IN" smtClean="0"/>
              <a:t>‹#›</a:t>
            </a:fld>
            <a:endParaRPr lang="en-IN"/>
          </a:p>
        </p:txBody>
      </p:sp>
    </p:spTree>
    <p:extLst>
      <p:ext uri="{BB962C8B-B14F-4D97-AF65-F5344CB8AC3E}">
        <p14:creationId xmlns:p14="http://schemas.microsoft.com/office/powerpoint/2010/main" val="1531005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01DBC2-310B-24E9-58BB-CC84AB34A32A}"/>
              </a:ext>
            </a:extLst>
          </p:cNvPr>
          <p:cNvSpPr>
            <a:spLocks noGrp="1"/>
          </p:cNvSpPr>
          <p:nvPr>
            <p:ph type="dt" sz="half" idx="10"/>
          </p:nvPr>
        </p:nvSpPr>
        <p:spPr/>
        <p:txBody>
          <a:bodyPr/>
          <a:lstStyle/>
          <a:p>
            <a:fld id="{305B6819-6CB8-4D20-98C4-B487C2EE1C64}" type="datetimeFigureOut">
              <a:rPr lang="en-IN" smtClean="0"/>
              <a:t>22-07-2026</a:t>
            </a:fld>
            <a:endParaRPr lang="en-IN"/>
          </a:p>
        </p:txBody>
      </p:sp>
      <p:sp>
        <p:nvSpPr>
          <p:cNvPr id="3" name="Footer Placeholder 2">
            <a:extLst>
              <a:ext uri="{FF2B5EF4-FFF2-40B4-BE49-F238E27FC236}">
                <a16:creationId xmlns:a16="http://schemas.microsoft.com/office/drawing/2014/main" id="{363538D9-D9A0-CFFB-DB6C-DB5D8CD7AEC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B094361-EFBB-F543-90A6-F236E2D1DA49}"/>
              </a:ext>
            </a:extLst>
          </p:cNvPr>
          <p:cNvSpPr>
            <a:spLocks noGrp="1"/>
          </p:cNvSpPr>
          <p:nvPr>
            <p:ph type="sldNum" sz="quarter" idx="12"/>
          </p:nvPr>
        </p:nvSpPr>
        <p:spPr/>
        <p:txBody>
          <a:bodyPr/>
          <a:lstStyle/>
          <a:p>
            <a:fld id="{5918E6F1-9EC8-42AF-887F-C17768B6FD3D}" type="slidenum">
              <a:rPr lang="en-IN" smtClean="0"/>
              <a:t>‹#›</a:t>
            </a:fld>
            <a:endParaRPr lang="en-IN"/>
          </a:p>
        </p:txBody>
      </p:sp>
    </p:spTree>
    <p:extLst>
      <p:ext uri="{BB962C8B-B14F-4D97-AF65-F5344CB8AC3E}">
        <p14:creationId xmlns:p14="http://schemas.microsoft.com/office/powerpoint/2010/main" val="3939457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E61A-9698-16CF-A48C-BB997FA139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E84CE40-F859-7E2A-AD92-754A279350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3832DF3-6284-C5B8-0EA2-61EEC870F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9EAEB9-1DAA-8915-B181-BD0DB2F6C367}"/>
              </a:ext>
            </a:extLst>
          </p:cNvPr>
          <p:cNvSpPr>
            <a:spLocks noGrp="1"/>
          </p:cNvSpPr>
          <p:nvPr>
            <p:ph type="dt" sz="half" idx="10"/>
          </p:nvPr>
        </p:nvSpPr>
        <p:spPr/>
        <p:txBody>
          <a:bodyPr/>
          <a:lstStyle/>
          <a:p>
            <a:fld id="{305B6819-6CB8-4D20-98C4-B487C2EE1C64}" type="datetimeFigureOut">
              <a:rPr lang="en-IN" smtClean="0"/>
              <a:t>22-07-2026</a:t>
            </a:fld>
            <a:endParaRPr lang="en-IN"/>
          </a:p>
        </p:txBody>
      </p:sp>
      <p:sp>
        <p:nvSpPr>
          <p:cNvPr id="6" name="Footer Placeholder 5">
            <a:extLst>
              <a:ext uri="{FF2B5EF4-FFF2-40B4-BE49-F238E27FC236}">
                <a16:creationId xmlns:a16="http://schemas.microsoft.com/office/drawing/2014/main" id="{54B91AFA-7A15-0D68-8786-3C0CDACD24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F67F86-EDD5-023E-E810-37C08707B53D}"/>
              </a:ext>
            </a:extLst>
          </p:cNvPr>
          <p:cNvSpPr>
            <a:spLocks noGrp="1"/>
          </p:cNvSpPr>
          <p:nvPr>
            <p:ph type="sldNum" sz="quarter" idx="12"/>
          </p:nvPr>
        </p:nvSpPr>
        <p:spPr/>
        <p:txBody>
          <a:bodyPr/>
          <a:lstStyle/>
          <a:p>
            <a:fld id="{5918E6F1-9EC8-42AF-887F-C17768B6FD3D}" type="slidenum">
              <a:rPr lang="en-IN" smtClean="0"/>
              <a:t>‹#›</a:t>
            </a:fld>
            <a:endParaRPr lang="en-IN"/>
          </a:p>
        </p:txBody>
      </p:sp>
    </p:spTree>
    <p:extLst>
      <p:ext uri="{BB962C8B-B14F-4D97-AF65-F5344CB8AC3E}">
        <p14:creationId xmlns:p14="http://schemas.microsoft.com/office/powerpoint/2010/main" val="1563570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ACBA8-D697-A6CC-8B75-34EE4CC913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A2F00E-5D8A-8495-9A32-2F3A8042DD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5FE9470-061C-FC25-CCE9-7B84685027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3069DC-60F1-254A-328D-A4AD7ABC63C0}"/>
              </a:ext>
            </a:extLst>
          </p:cNvPr>
          <p:cNvSpPr>
            <a:spLocks noGrp="1"/>
          </p:cNvSpPr>
          <p:nvPr>
            <p:ph type="dt" sz="half" idx="10"/>
          </p:nvPr>
        </p:nvSpPr>
        <p:spPr/>
        <p:txBody>
          <a:bodyPr/>
          <a:lstStyle/>
          <a:p>
            <a:fld id="{305B6819-6CB8-4D20-98C4-B487C2EE1C64}" type="datetimeFigureOut">
              <a:rPr lang="en-IN" smtClean="0"/>
              <a:t>22-07-2026</a:t>
            </a:fld>
            <a:endParaRPr lang="en-IN"/>
          </a:p>
        </p:txBody>
      </p:sp>
      <p:sp>
        <p:nvSpPr>
          <p:cNvPr id="6" name="Footer Placeholder 5">
            <a:extLst>
              <a:ext uri="{FF2B5EF4-FFF2-40B4-BE49-F238E27FC236}">
                <a16:creationId xmlns:a16="http://schemas.microsoft.com/office/drawing/2014/main" id="{6DA2E11D-159E-5B1B-A88D-325791656B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540E66-FA01-C050-7030-570D7EB76C71}"/>
              </a:ext>
            </a:extLst>
          </p:cNvPr>
          <p:cNvSpPr>
            <a:spLocks noGrp="1"/>
          </p:cNvSpPr>
          <p:nvPr>
            <p:ph type="sldNum" sz="quarter" idx="12"/>
          </p:nvPr>
        </p:nvSpPr>
        <p:spPr/>
        <p:txBody>
          <a:bodyPr/>
          <a:lstStyle/>
          <a:p>
            <a:fld id="{5918E6F1-9EC8-42AF-887F-C17768B6FD3D}" type="slidenum">
              <a:rPr lang="en-IN" smtClean="0"/>
              <a:t>‹#›</a:t>
            </a:fld>
            <a:endParaRPr lang="en-IN"/>
          </a:p>
        </p:txBody>
      </p:sp>
    </p:spTree>
    <p:extLst>
      <p:ext uri="{BB962C8B-B14F-4D97-AF65-F5344CB8AC3E}">
        <p14:creationId xmlns:p14="http://schemas.microsoft.com/office/powerpoint/2010/main" val="3315916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97107-16A5-3A19-5881-C1E6B7CD541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18604B-7376-94B3-A401-7B5BFB5794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79CAC2-5A5E-7602-609A-7927034A5169}"/>
              </a:ext>
            </a:extLst>
          </p:cNvPr>
          <p:cNvSpPr>
            <a:spLocks noGrp="1"/>
          </p:cNvSpPr>
          <p:nvPr>
            <p:ph type="dt" sz="half" idx="10"/>
          </p:nvPr>
        </p:nvSpPr>
        <p:spPr/>
        <p:txBody>
          <a:bodyPr/>
          <a:lstStyle/>
          <a:p>
            <a:fld id="{305B6819-6CB8-4D20-98C4-B487C2EE1C64}" type="datetimeFigureOut">
              <a:rPr lang="en-IN" smtClean="0"/>
              <a:t>22-07-2026</a:t>
            </a:fld>
            <a:endParaRPr lang="en-IN"/>
          </a:p>
        </p:txBody>
      </p:sp>
      <p:sp>
        <p:nvSpPr>
          <p:cNvPr id="5" name="Footer Placeholder 4">
            <a:extLst>
              <a:ext uri="{FF2B5EF4-FFF2-40B4-BE49-F238E27FC236}">
                <a16:creationId xmlns:a16="http://schemas.microsoft.com/office/drawing/2014/main" id="{CE267991-04E6-7ECF-25F1-4C101B3B4A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0299E8-5B72-5320-3FB0-C2E786C131D7}"/>
              </a:ext>
            </a:extLst>
          </p:cNvPr>
          <p:cNvSpPr>
            <a:spLocks noGrp="1"/>
          </p:cNvSpPr>
          <p:nvPr>
            <p:ph type="sldNum" sz="quarter" idx="12"/>
          </p:nvPr>
        </p:nvSpPr>
        <p:spPr/>
        <p:txBody>
          <a:bodyPr/>
          <a:lstStyle/>
          <a:p>
            <a:fld id="{5918E6F1-9EC8-42AF-887F-C17768B6FD3D}" type="slidenum">
              <a:rPr lang="en-IN" smtClean="0"/>
              <a:t>‹#›</a:t>
            </a:fld>
            <a:endParaRPr lang="en-IN"/>
          </a:p>
        </p:txBody>
      </p:sp>
    </p:spTree>
    <p:extLst>
      <p:ext uri="{BB962C8B-B14F-4D97-AF65-F5344CB8AC3E}">
        <p14:creationId xmlns:p14="http://schemas.microsoft.com/office/powerpoint/2010/main" val="2458230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1BF982-D6E2-6E0D-0C8A-1491C743282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C094FA-AC14-C6F4-3B76-46745DC2CB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A4F7E4-F55B-1036-0D5B-27659D93AF4D}"/>
              </a:ext>
            </a:extLst>
          </p:cNvPr>
          <p:cNvSpPr>
            <a:spLocks noGrp="1"/>
          </p:cNvSpPr>
          <p:nvPr>
            <p:ph type="dt" sz="half" idx="10"/>
          </p:nvPr>
        </p:nvSpPr>
        <p:spPr/>
        <p:txBody>
          <a:bodyPr/>
          <a:lstStyle/>
          <a:p>
            <a:fld id="{305B6819-6CB8-4D20-98C4-B487C2EE1C64}" type="datetimeFigureOut">
              <a:rPr lang="en-IN" smtClean="0"/>
              <a:t>22-07-2026</a:t>
            </a:fld>
            <a:endParaRPr lang="en-IN"/>
          </a:p>
        </p:txBody>
      </p:sp>
      <p:sp>
        <p:nvSpPr>
          <p:cNvPr id="5" name="Footer Placeholder 4">
            <a:extLst>
              <a:ext uri="{FF2B5EF4-FFF2-40B4-BE49-F238E27FC236}">
                <a16:creationId xmlns:a16="http://schemas.microsoft.com/office/drawing/2014/main" id="{00B3D494-3E2E-BBA7-0817-348DF3C7C2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F802A5-D89A-886B-95AC-B361A77D7E4D}"/>
              </a:ext>
            </a:extLst>
          </p:cNvPr>
          <p:cNvSpPr>
            <a:spLocks noGrp="1"/>
          </p:cNvSpPr>
          <p:nvPr>
            <p:ph type="sldNum" sz="quarter" idx="12"/>
          </p:nvPr>
        </p:nvSpPr>
        <p:spPr/>
        <p:txBody>
          <a:bodyPr/>
          <a:lstStyle/>
          <a:p>
            <a:fld id="{5918E6F1-9EC8-42AF-887F-C17768B6FD3D}" type="slidenum">
              <a:rPr lang="en-IN" smtClean="0"/>
              <a:t>‹#›</a:t>
            </a:fld>
            <a:endParaRPr lang="en-IN"/>
          </a:p>
        </p:txBody>
      </p:sp>
    </p:spTree>
    <p:extLst>
      <p:ext uri="{BB962C8B-B14F-4D97-AF65-F5344CB8AC3E}">
        <p14:creationId xmlns:p14="http://schemas.microsoft.com/office/powerpoint/2010/main" val="761916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362295-4779-6226-985F-FA02210DCB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5790AC2-ADAA-7829-EC1C-7DBC113BDC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0CBCD0-6FC9-578C-04DF-A3CC3E4BCB5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5B6819-6CB8-4D20-98C4-B487C2EE1C64}" type="datetimeFigureOut">
              <a:rPr lang="en-IN" smtClean="0"/>
              <a:t>22-07-2026</a:t>
            </a:fld>
            <a:endParaRPr lang="en-IN"/>
          </a:p>
        </p:txBody>
      </p:sp>
      <p:sp>
        <p:nvSpPr>
          <p:cNvPr id="5" name="Footer Placeholder 4">
            <a:extLst>
              <a:ext uri="{FF2B5EF4-FFF2-40B4-BE49-F238E27FC236}">
                <a16:creationId xmlns:a16="http://schemas.microsoft.com/office/drawing/2014/main" id="{E439F6FA-FE85-B936-9D81-034F78ED28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47950FB-601A-96F0-7324-172BF8634B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18E6F1-9EC8-42AF-887F-C17768B6FD3D}" type="slidenum">
              <a:rPr lang="en-IN" smtClean="0"/>
              <a:t>‹#›</a:t>
            </a:fld>
            <a:endParaRPr lang="en-IN"/>
          </a:p>
        </p:txBody>
      </p:sp>
    </p:spTree>
    <p:extLst>
      <p:ext uri="{BB962C8B-B14F-4D97-AF65-F5344CB8AC3E}">
        <p14:creationId xmlns:p14="http://schemas.microsoft.com/office/powerpoint/2010/main" val="2962640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14269-8A22-BF0B-1FA5-4E2170C725CD}"/>
              </a:ext>
            </a:extLst>
          </p:cNvPr>
          <p:cNvSpPr>
            <a:spLocks noGrp="1"/>
          </p:cNvSpPr>
          <p:nvPr>
            <p:ph type="ctrTitle"/>
          </p:nvPr>
        </p:nvSpPr>
        <p:spPr>
          <a:xfrm>
            <a:off x="436880" y="182879"/>
            <a:ext cx="11176000" cy="3348039"/>
          </a:xfrm>
        </p:spPr>
        <p:txBody>
          <a:bodyPr>
            <a:normAutofit/>
          </a:bodyPr>
          <a:lstStyle/>
          <a:p>
            <a:r>
              <a:rPr lang="en-IN" sz="4000" dirty="0">
                <a:latin typeface="Times New Roman" panose="02020603050405020304" pitchFamily="18" charset="0"/>
                <a:cs typeface="Times New Roman" panose="02020603050405020304" pitchFamily="18" charset="0"/>
              </a:rPr>
              <a:t>Containerization and Cloud-Native </a:t>
            </a:r>
            <a:br>
              <a:rPr lang="en-IN" sz="4000" dirty="0">
                <a:latin typeface="Times New Roman" panose="02020603050405020304" pitchFamily="18" charset="0"/>
                <a:cs typeface="Times New Roman" panose="02020603050405020304" pitchFamily="18" charset="0"/>
              </a:rPr>
            </a:br>
            <a:r>
              <a:rPr lang="en-IN" sz="4000" dirty="0">
                <a:latin typeface="Times New Roman" panose="02020603050405020304" pitchFamily="18" charset="0"/>
                <a:cs typeface="Times New Roman" panose="02020603050405020304" pitchFamily="18" charset="0"/>
              </a:rPr>
              <a:t>Applications: Transforming Modern Software Deployment</a:t>
            </a:r>
            <a:br>
              <a:rPr lang="en-IN" dirty="0"/>
            </a:br>
            <a:endParaRPr lang="en-IN" dirty="0"/>
          </a:p>
        </p:txBody>
      </p:sp>
      <p:grpSp>
        <p:nvGrpSpPr>
          <p:cNvPr id="4" name="Group 3">
            <a:extLst>
              <a:ext uri="{FF2B5EF4-FFF2-40B4-BE49-F238E27FC236}">
                <a16:creationId xmlns:a16="http://schemas.microsoft.com/office/drawing/2014/main" id="{5C7EBA78-BF16-640C-D4F0-7314354E6DC9}"/>
              </a:ext>
            </a:extLst>
          </p:cNvPr>
          <p:cNvGrpSpPr/>
          <p:nvPr/>
        </p:nvGrpSpPr>
        <p:grpSpPr>
          <a:xfrm>
            <a:off x="8869680" y="0"/>
            <a:ext cx="3322320" cy="3200400"/>
            <a:chOff x="0" y="0"/>
            <a:chExt cx="3322320" cy="3200400"/>
          </a:xfrm>
        </p:grpSpPr>
        <p:sp>
          <p:nvSpPr>
            <p:cNvPr id="5" name="Shape 7">
              <a:extLst>
                <a:ext uri="{FF2B5EF4-FFF2-40B4-BE49-F238E27FC236}">
                  <a16:creationId xmlns:a16="http://schemas.microsoft.com/office/drawing/2014/main" id="{7875E70B-2119-8FCE-0505-361F29C73F18}"/>
                </a:ext>
              </a:extLst>
            </p:cNvPr>
            <p:cNvSpPr/>
            <p:nvPr/>
          </p:nvSpPr>
          <p:spPr>
            <a:xfrm>
              <a:off x="0" y="0"/>
              <a:ext cx="3322320" cy="3200400"/>
            </a:xfrm>
            <a:custGeom>
              <a:avLst/>
              <a:gdLst/>
              <a:ahLst/>
              <a:cxnLst/>
              <a:rect l="0" t="0" r="0" b="0"/>
              <a:pathLst>
                <a:path w="3322320" h="3200400">
                  <a:moveTo>
                    <a:pt x="190766" y="0"/>
                  </a:moveTo>
                  <a:lnTo>
                    <a:pt x="3322320" y="0"/>
                  </a:lnTo>
                  <a:lnTo>
                    <a:pt x="3322320" y="2951797"/>
                  </a:lnTo>
                  <a:lnTo>
                    <a:pt x="3277068" y="2974973"/>
                  </a:lnTo>
                  <a:cubicBezTo>
                    <a:pt x="2977254" y="3119440"/>
                    <a:pt x="2641080" y="3200400"/>
                    <a:pt x="2286000" y="3200400"/>
                  </a:cubicBezTo>
                  <a:cubicBezTo>
                    <a:pt x="1023493" y="3200400"/>
                    <a:pt x="0" y="2176907"/>
                    <a:pt x="0" y="914400"/>
                  </a:cubicBezTo>
                  <a:cubicBezTo>
                    <a:pt x="0" y="598773"/>
                    <a:pt x="63968" y="298085"/>
                    <a:pt x="179647" y="24593"/>
                  </a:cubicBezTo>
                  <a:lnTo>
                    <a:pt x="190766" y="0"/>
                  </a:lnTo>
                  <a:close/>
                </a:path>
              </a:pathLst>
            </a:custGeom>
            <a:ln w="0" cap="flat">
              <a:miter lim="127000"/>
            </a:ln>
          </p:spPr>
          <p:style>
            <a:lnRef idx="0">
              <a:srgbClr val="000000">
                <a:alpha val="0"/>
              </a:srgbClr>
            </a:lnRef>
            <a:fillRef idx="1">
              <a:srgbClr val="065A82">
                <a:alpha val="45098"/>
              </a:srgbClr>
            </a:fillRef>
            <a:effectRef idx="0">
              <a:scrgbClr r="0" g="0" b="0"/>
            </a:effectRef>
            <a:fontRef idx="none"/>
          </p:style>
          <p:txBody>
            <a:bodyPr/>
            <a:lstStyle/>
            <a:p>
              <a:endParaRPr lang="en-IN"/>
            </a:p>
          </p:txBody>
        </p:sp>
      </p:grpSp>
      <p:grpSp>
        <p:nvGrpSpPr>
          <p:cNvPr id="6" name="Group 5">
            <a:extLst>
              <a:ext uri="{FF2B5EF4-FFF2-40B4-BE49-F238E27FC236}">
                <a16:creationId xmlns:a16="http://schemas.microsoft.com/office/drawing/2014/main" id="{F983BB48-B3D0-3AE1-3CC8-D3F6BCC7F0AB}"/>
              </a:ext>
            </a:extLst>
          </p:cNvPr>
          <p:cNvGrpSpPr/>
          <p:nvPr/>
        </p:nvGrpSpPr>
        <p:grpSpPr>
          <a:xfrm>
            <a:off x="10515600" y="3840480"/>
            <a:ext cx="1676400" cy="2925445"/>
            <a:chOff x="0" y="0"/>
            <a:chExt cx="1676400" cy="2926079"/>
          </a:xfrm>
        </p:grpSpPr>
        <p:sp>
          <p:nvSpPr>
            <p:cNvPr id="7" name="Shape 8">
              <a:extLst>
                <a:ext uri="{FF2B5EF4-FFF2-40B4-BE49-F238E27FC236}">
                  <a16:creationId xmlns:a16="http://schemas.microsoft.com/office/drawing/2014/main" id="{86F92009-7FCB-781C-8584-F91A04AD9954}"/>
                </a:ext>
              </a:extLst>
            </p:cNvPr>
            <p:cNvSpPr/>
            <p:nvPr/>
          </p:nvSpPr>
          <p:spPr>
            <a:xfrm>
              <a:off x="0" y="0"/>
              <a:ext cx="1676400" cy="2926079"/>
            </a:xfrm>
            <a:custGeom>
              <a:avLst/>
              <a:gdLst/>
              <a:ahLst/>
              <a:cxnLst/>
              <a:rect l="0" t="0" r="0" b="0"/>
              <a:pathLst>
                <a:path w="1676400" h="2926079">
                  <a:moveTo>
                    <a:pt x="1463040" y="0"/>
                  </a:moveTo>
                  <a:cubicBezTo>
                    <a:pt x="1513539" y="0"/>
                    <a:pt x="1563440" y="2559"/>
                    <a:pt x="1612621" y="7554"/>
                  </a:cubicBezTo>
                  <a:lnTo>
                    <a:pt x="1676400" y="17289"/>
                  </a:lnTo>
                  <a:lnTo>
                    <a:pt x="1676400" y="2908791"/>
                  </a:lnTo>
                  <a:lnTo>
                    <a:pt x="1612621" y="2918525"/>
                  </a:lnTo>
                  <a:cubicBezTo>
                    <a:pt x="1563440" y="2923521"/>
                    <a:pt x="1513539" y="2926079"/>
                    <a:pt x="1463040" y="2926079"/>
                  </a:cubicBezTo>
                  <a:cubicBezTo>
                    <a:pt x="655066" y="2926079"/>
                    <a:pt x="0" y="2271052"/>
                    <a:pt x="0" y="1463040"/>
                  </a:cubicBezTo>
                  <a:cubicBezTo>
                    <a:pt x="0" y="655066"/>
                    <a:pt x="655066" y="0"/>
                    <a:pt x="1463040" y="0"/>
                  </a:cubicBezTo>
                  <a:close/>
                </a:path>
              </a:pathLst>
            </a:custGeom>
            <a:ln w="0" cap="flat">
              <a:miter lim="127000"/>
            </a:ln>
          </p:spPr>
          <p:style>
            <a:lnRef idx="0">
              <a:srgbClr val="000000">
                <a:alpha val="0"/>
              </a:srgbClr>
            </a:lnRef>
            <a:fillRef idx="1">
              <a:srgbClr val="1C7293">
                <a:alpha val="45098"/>
              </a:srgbClr>
            </a:fillRef>
            <a:effectRef idx="0">
              <a:scrgbClr r="0" g="0" b="0"/>
            </a:effectRef>
            <a:fontRef idx="none"/>
          </p:style>
          <p:txBody>
            <a:bodyPr/>
            <a:lstStyle/>
            <a:p>
              <a:endParaRPr lang="en-IN"/>
            </a:p>
          </p:txBody>
        </p:sp>
      </p:grpSp>
      <p:sp>
        <p:nvSpPr>
          <p:cNvPr id="8" name="Rectangle 5">
            <a:extLst>
              <a:ext uri="{FF2B5EF4-FFF2-40B4-BE49-F238E27FC236}">
                <a16:creationId xmlns:a16="http://schemas.microsoft.com/office/drawing/2014/main" id="{1D790CE5-E97C-8D1A-3F45-8F1F9D9C43D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2358282" bIns="282486" numCol="1" anchor="ctr" anchorCtr="0" compatLnSpc="1">
            <a:prstTxWarp prst="textNoShape">
              <a:avLst/>
            </a:prstTxWarp>
            <a:spAutoFit/>
          </a:bodyPr>
          <a:lstStyle/>
          <a:p>
            <a:endParaRPr lang="en-IN"/>
          </a:p>
        </p:txBody>
      </p:sp>
      <p:sp>
        <p:nvSpPr>
          <p:cNvPr id="9" name="Rectangle 6">
            <a:extLst>
              <a:ext uri="{FF2B5EF4-FFF2-40B4-BE49-F238E27FC236}">
                <a16:creationId xmlns:a16="http://schemas.microsoft.com/office/drawing/2014/main" id="{C1FBFA5D-8F13-62E6-728A-9F958491E87E}"/>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2358282" bIns="28248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FFFFFF"/>
                </a:solidFill>
                <a:effectLst/>
                <a:latin typeface="Arial" panose="020B0604020202020204" pitchFamily="34" charset="0"/>
                <a:ea typeface="Times New Roman" panose="02020603050405020304" pitchFamily="18" charset="0"/>
              </a:rPr>
              <a:t>CSA1508-Cloud Computing And Big Data Analytics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FFFFFF"/>
                </a:solidFill>
                <a:effectLst/>
                <a:latin typeface="Arial" panose="020B0604020202020204" pitchFamily="34" charset="0"/>
                <a:ea typeface="Times New Roman" panose="02020603050405020304" pitchFamily="18" charset="0"/>
              </a:rPr>
              <a:t>C01-AT3-Technical Presentation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7" name="TextBox 16">
            <a:extLst>
              <a:ext uri="{FF2B5EF4-FFF2-40B4-BE49-F238E27FC236}">
                <a16:creationId xmlns:a16="http://schemas.microsoft.com/office/drawing/2014/main" id="{A928333A-3B6D-6FD2-62B7-F2687EBB5E5C}"/>
              </a:ext>
            </a:extLst>
          </p:cNvPr>
          <p:cNvSpPr txBox="1"/>
          <p:nvPr/>
        </p:nvSpPr>
        <p:spPr>
          <a:xfrm>
            <a:off x="1290319" y="2939892"/>
            <a:ext cx="10544387" cy="1231106"/>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       CSA1508-Cloud Computing And Big Data Analytics</a:t>
            </a:r>
          </a:p>
          <a:p>
            <a:r>
              <a:rPr lang="en-IN" sz="2800" b="1" dirty="0">
                <a:latin typeface="Times New Roman" panose="02020603050405020304" pitchFamily="18" charset="0"/>
                <a:cs typeface="Times New Roman" panose="02020603050405020304" pitchFamily="18" charset="0"/>
              </a:rPr>
              <a:t>                   C01-AT3-Technical Presentation</a:t>
            </a:r>
          </a:p>
          <a:p>
            <a:endParaRPr lang="en-IN" dirty="0"/>
          </a:p>
        </p:txBody>
      </p:sp>
      <p:sp>
        <p:nvSpPr>
          <p:cNvPr id="18" name="TextBox 17">
            <a:extLst>
              <a:ext uri="{FF2B5EF4-FFF2-40B4-BE49-F238E27FC236}">
                <a16:creationId xmlns:a16="http://schemas.microsoft.com/office/drawing/2014/main" id="{AF5728CA-5257-6F18-65F8-44D0F1E368D2}"/>
              </a:ext>
            </a:extLst>
          </p:cNvPr>
          <p:cNvSpPr txBox="1"/>
          <p:nvPr/>
        </p:nvSpPr>
        <p:spPr>
          <a:xfrm>
            <a:off x="1032933" y="4606111"/>
            <a:ext cx="5342467"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Bhuvaneshwari J(192572141)</a:t>
            </a:r>
          </a:p>
          <a:p>
            <a:endParaRPr lang="en-IN" dirty="0"/>
          </a:p>
        </p:txBody>
      </p:sp>
    </p:spTree>
    <p:extLst>
      <p:ext uri="{BB962C8B-B14F-4D97-AF65-F5344CB8AC3E}">
        <p14:creationId xmlns:p14="http://schemas.microsoft.com/office/powerpoint/2010/main" val="818900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76824332-E197-FCCC-EB2E-DFF7BBC77E1F}"/>
              </a:ext>
            </a:extLst>
          </p:cNvPr>
          <p:cNvGraphicFramePr>
            <a:graphicFrameLocks noGrp="1"/>
          </p:cNvGraphicFramePr>
          <p:nvPr>
            <p:ph idx="1"/>
            <p:extLst>
              <p:ext uri="{D42A27DB-BD31-4B8C-83A1-F6EECF244321}">
                <p14:modId xmlns:p14="http://schemas.microsoft.com/office/powerpoint/2010/main" val="2375229706"/>
              </p:ext>
            </p:extLst>
          </p:nvPr>
        </p:nvGraphicFramePr>
        <p:xfrm>
          <a:off x="532757" y="4666459"/>
          <a:ext cx="10515600" cy="1859584"/>
        </p:xfrm>
        <a:graphic>
          <a:graphicData uri="http://schemas.openxmlformats.org/drawingml/2006/table">
            <a:tbl>
              <a:tblPr firstRow="1" firstCol="1" bandRow="1">
                <a:tableStyleId>{5C22544A-7EE6-4342-B048-85BDC9FD1C3A}</a:tableStyleId>
              </a:tblPr>
              <a:tblGrid>
                <a:gridCol w="2206978">
                  <a:extLst>
                    <a:ext uri="{9D8B030D-6E8A-4147-A177-3AD203B41FA5}">
                      <a16:colId xmlns:a16="http://schemas.microsoft.com/office/drawing/2014/main" val="1785992713"/>
                    </a:ext>
                  </a:extLst>
                </a:gridCol>
                <a:gridCol w="4154311">
                  <a:extLst>
                    <a:ext uri="{9D8B030D-6E8A-4147-A177-3AD203B41FA5}">
                      <a16:colId xmlns:a16="http://schemas.microsoft.com/office/drawing/2014/main" val="1042314080"/>
                    </a:ext>
                  </a:extLst>
                </a:gridCol>
                <a:gridCol w="4154311">
                  <a:extLst>
                    <a:ext uri="{9D8B030D-6E8A-4147-A177-3AD203B41FA5}">
                      <a16:colId xmlns:a16="http://schemas.microsoft.com/office/drawing/2014/main" val="3547112801"/>
                    </a:ext>
                  </a:extLst>
                </a:gridCol>
              </a:tblGrid>
              <a:tr h="309530">
                <a:tc>
                  <a:txBody>
                    <a:bodyPr/>
                    <a:lstStyle/>
                    <a:p>
                      <a:pPr marL="175895">
                        <a:lnSpc>
                          <a:spcPct val="107000"/>
                        </a:lnSpc>
                        <a:spcAft>
                          <a:spcPts val="800"/>
                        </a:spcAft>
                        <a:buNone/>
                      </a:pPr>
                      <a:r>
                        <a:rPr lang="en-IN" sz="1200" kern="100">
                          <a:effectLst/>
                        </a:rPr>
                        <a:t>Aspect</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tc>
                  <a:txBody>
                    <a:bodyPr/>
                    <a:lstStyle/>
                    <a:p>
                      <a:pPr marL="635">
                        <a:lnSpc>
                          <a:spcPct val="107000"/>
                        </a:lnSpc>
                        <a:spcAft>
                          <a:spcPts val="800"/>
                        </a:spcAft>
                        <a:buNone/>
                      </a:pPr>
                      <a:r>
                        <a:rPr lang="en-IN" sz="1200" kern="100" dirty="0">
                          <a:effectLst/>
                        </a:rPr>
                        <a:t>Containers</a:t>
                      </a:r>
                      <a:endParaRPr lang="en-IN" sz="1000" kern="100" dirty="0">
                        <a:solidFill>
                          <a:srgbClr val="000000"/>
                        </a:solidFill>
                        <a:effectLst/>
                        <a:latin typeface="Calibri" panose="020F0502020204030204" pitchFamily="34" charset="0"/>
                        <a:ea typeface="Calibri" panose="020F0502020204030204" pitchFamily="34" charset="0"/>
                      </a:endParaRPr>
                    </a:p>
                  </a:txBody>
                  <a:tcPr marL="86548" marR="69118" marT="0" marB="0" anchor="ctr"/>
                </a:tc>
                <a:tc>
                  <a:txBody>
                    <a:bodyPr/>
                    <a:lstStyle/>
                    <a:p>
                      <a:pPr marL="1270">
                        <a:lnSpc>
                          <a:spcPct val="107000"/>
                        </a:lnSpc>
                        <a:spcAft>
                          <a:spcPts val="800"/>
                        </a:spcAft>
                        <a:buNone/>
                      </a:pPr>
                      <a:r>
                        <a:rPr lang="en-IN" sz="1200" kern="100">
                          <a:effectLst/>
                        </a:rPr>
                        <a:t>Virtual Machines</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extLst>
                  <a:ext uri="{0D108BD9-81ED-4DB2-BD59-A6C34878D82A}">
                    <a16:rowId xmlns:a16="http://schemas.microsoft.com/office/drawing/2014/main" val="2737117529"/>
                  </a:ext>
                </a:extLst>
              </a:tr>
              <a:tr h="310131">
                <a:tc>
                  <a:txBody>
                    <a:bodyPr/>
                    <a:lstStyle/>
                    <a:p>
                      <a:pPr marL="175895">
                        <a:lnSpc>
                          <a:spcPct val="107000"/>
                        </a:lnSpc>
                        <a:spcAft>
                          <a:spcPts val="800"/>
                        </a:spcAft>
                        <a:buNone/>
                      </a:pPr>
                      <a:r>
                        <a:rPr lang="en-IN" sz="1100" kern="100">
                          <a:effectLst/>
                        </a:rPr>
                        <a:t>OS</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tc>
                  <a:txBody>
                    <a:bodyPr/>
                    <a:lstStyle/>
                    <a:p>
                      <a:pPr marL="635">
                        <a:lnSpc>
                          <a:spcPct val="107000"/>
                        </a:lnSpc>
                        <a:spcAft>
                          <a:spcPts val="800"/>
                        </a:spcAft>
                        <a:buNone/>
                      </a:pPr>
                      <a:r>
                        <a:rPr lang="en-IN" sz="1100" kern="100">
                          <a:effectLst/>
                        </a:rPr>
                        <a:t>Share host OS kernel</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tc>
                  <a:txBody>
                    <a:bodyPr/>
                    <a:lstStyle/>
                    <a:p>
                      <a:pPr marL="1270">
                        <a:lnSpc>
                          <a:spcPct val="107000"/>
                        </a:lnSpc>
                        <a:spcAft>
                          <a:spcPts val="800"/>
                        </a:spcAft>
                        <a:buNone/>
                      </a:pPr>
                      <a:r>
                        <a:rPr lang="en-IN" sz="1100" kern="100">
                          <a:effectLst/>
                        </a:rPr>
                        <a:t>Each VM runs full guest OS</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extLst>
                  <a:ext uri="{0D108BD9-81ED-4DB2-BD59-A6C34878D82A}">
                    <a16:rowId xmlns:a16="http://schemas.microsoft.com/office/drawing/2014/main" val="192294946"/>
                  </a:ext>
                </a:extLst>
              </a:tr>
              <a:tr h="310131">
                <a:tc>
                  <a:txBody>
                    <a:bodyPr/>
                    <a:lstStyle/>
                    <a:p>
                      <a:pPr marL="175895">
                        <a:lnSpc>
                          <a:spcPct val="107000"/>
                        </a:lnSpc>
                        <a:spcAft>
                          <a:spcPts val="800"/>
                        </a:spcAft>
                        <a:buNone/>
                      </a:pPr>
                      <a:r>
                        <a:rPr lang="en-IN" sz="1100" kern="100">
                          <a:effectLst/>
                        </a:rPr>
                        <a:t>Size</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tc>
                  <a:txBody>
                    <a:bodyPr/>
                    <a:lstStyle/>
                    <a:p>
                      <a:pPr marL="635">
                        <a:lnSpc>
                          <a:spcPct val="107000"/>
                        </a:lnSpc>
                        <a:spcAft>
                          <a:spcPts val="800"/>
                        </a:spcAft>
                        <a:buNone/>
                      </a:pPr>
                      <a:r>
                        <a:rPr lang="en-IN" sz="1100" kern="100">
                          <a:effectLst/>
                        </a:rPr>
                        <a:t>Megabytes — lightweight</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tc>
                  <a:txBody>
                    <a:bodyPr/>
                    <a:lstStyle/>
                    <a:p>
                      <a:pPr marL="1270">
                        <a:lnSpc>
                          <a:spcPct val="107000"/>
                        </a:lnSpc>
                        <a:spcAft>
                          <a:spcPts val="800"/>
                        </a:spcAft>
                        <a:buNone/>
                      </a:pPr>
                      <a:r>
                        <a:rPr lang="en-IN" sz="1100" kern="100">
                          <a:effectLst/>
                        </a:rPr>
                        <a:t>Gigabytes — heavyweight</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extLst>
                  <a:ext uri="{0D108BD9-81ED-4DB2-BD59-A6C34878D82A}">
                    <a16:rowId xmlns:a16="http://schemas.microsoft.com/office/drawing/2014/main" val="2187656471"/>
                  </a:ext>
                </a:extLst>
              </a:tr>
              <a:tr h="309530">
                <a:tc>
                  <a:txBody>
                    <a:bodyPr/>
                    <a:lstStyle/>
                    <a:p>
                      <a:pPr marL="175895">
                        <a:lnSpc>
                          <a:spcPct val="107000"/>
                        </a:lnSpc>
                        <a:spcAft>
                          <a:spcPts val="800"/>
                        </a:spcAft>
                        <a:buNone/>
                      </a:pPr>
                      <a:r>
                        <a:rPr lang="en-IN" sz="1100" kern="100">
                          <a:effectLst/>
                        </a:rPr>
                        <a:t>Startup</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tc>
                  <a:txBody>
                    <a:bodyPr/>
                    <a:lstStyle/>
                    <a:p>
                      <a:pPr marL="635">
                        <a:lnSpc>
                          <a:spcPct val="107000"/>
                        </a:lnSpc>
                        <a:spcAft>
                          <a:spcPts val="800"/>
                        </a:spcAft>
                        <a:buNone/>
                      </a:pPr>
                      <a:r>
                        <a:rPr lang="en-IN" sz="1100" kern="100">
                          <a:effectLst/>
                        </a:rPr>
                        <a:t>Seconds</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tc>
                  <a:txBody>
                    <a:bodyPr/>
                    <a:lstStyle/>
                    <a:p>
                      <a:pPr marL="1270">
                        <a:lnSpc>
                          <a:spcPct val="107000"/>
                        </a:lnSpc>
                        <a:spcAft>
                          <a:spcPts val="800"/>
                        </a:spcAft>
                        <a:buNone/>
                      </a:pPr>
                      <a:r>
                        <a:rPr lang="en-IN" sz="1100" kern="100">
                          <a:effectLst/>
                        </a:rPr>
                        <a:t>Minutes</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extLst>
                  <a:ext uri="{0D108BD9-81ED-4DB2-BD59-A6C34878D82A}">
                    <a16:rowId xmlns:a16="http://schemas.microsoft.com/office/drawing/2014/main" val="4201602015"/>
                  </a:ext>
                </a:extLst>
              </a:tr>
              <a:tr h="310131">
                <a:tc>
                  <a:txBody>
                    <a:bodyPr/>
                    <a:lstStyle/>
                    <a:p>
                      <a:pPr marL="175895">
                        <a:lnSpc>
                          <a:spcPct val="107000"/>
                        </a:lnSpc>
                        <a:spcAft>
                          <a:spcPts val="800"/>
                        </a:spcAft>
                        <a:buNone/>
                      </a:pPr>
                      <a:r>
                        <a:rPr lang="en-IN" sz="1100" kern="100">
                          <a:effectLst/>
                        </a:rPr>
                        <a:t>Isolation</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tc>
                  <a:txBody>
                    <a:bodyPr/>
                    <a:lstStyle/>
                    <a:p>
                      <a:pPr marL="635">
                        <a:lnSpc>
                          <a:spcPct val="107000"/>
                        </a:lnSpc>
                        <a:spcAft>
                          <a:spcPts val="800"/>
                        </a:spcAft>
                        <a:buNone/>
                      </a:pPr>
                      <a:r>
                        <a:rPr lang="en-IN" sz="1100" kern="100">
                          <a:effectLst/>
                        </a:rPr>
                        <a:t>Process-level</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tc>
                  <a:txBody>
                    <a:bodyPr/>
                    <a:lstStyle/>
                    <a:p>
                      <a:pPr marL="1270">
                        <a:lnSpc>
                          <a:spcPct val="107000"/>
                        </a:lnSpc>
                        <a:spcAft>
                          <a:spcPts val="800"/>
                        </a:spcAft>
                        <a:buNone/>
                      </a:pPr>
                      <a:r>
                        <a:rPr lang="en-IN" sz="1100" kern="100">
                          <a:effectLst/>
                        </a:rPr>
                        <a:t>Full hardware-level</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extLst>
                  <a:ext uri="{0D108BD9-81ED-4DB2-BD59-A6C34878D82A}">
                    <a16:rowId xmlns:a16="http://schemas.microsoft.com/office/drawing/2014/main" val="1983640881"/>
                  </a:ext>
                </a:extLst>
              </a:tr>
              <a:tr h="310131">
                <a:tc>
                  <a:txBody>
                    <a:bodyPr/>
                    <a:lstStyle/>
                    <a:p>
                      <a:pPr marL="175895">
                        <a:lnSpc>
                          <a:spcPct val="107000"/>
                        </a:lnSpc>
                        <a:spcAft>
                          <a:spcPts val="800"/>
                        </a:spcAft>
                        <a:buNone/>
                      </a:pPr>
                      <a:r>
                        <a:rPr lang="en-IN" sz="1100" kern="100">
                          <a:effectLst/>
                        </a:rPr>
                        <a:t>Density</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tc>
                  <a:txBody>
                    <a:bodyPr/>
                    <a:lstStyle/>
                    <a:p>
                      <a:pPr marL="635">
                        <a:lnSpc>
                          <a:spcPct val="107000"/>
                        </a:lnSpc>
                        <a:spcAft>
                          <a:spcPts val="800"/>
                        </a:spcAft>
                        <a:buNone/>
                      </a:pPr>
                      <a:r>
                        <a:rPr lang="en-IN" sz="1100" kern="100">
                          <a:effectLst/>
                        </a:rPr>
                        <a:t>Many per host</a:t>
                      </a:r>
                      <a:endParaRPr lang="en-IN" sz="1000" kern="100">
                        <a:solidFill>
                          <a:srgbClr val="000000"/>
                        </a:solidFill>
                        <a:effectLst/>
                        <a:latin typeface="Calibri" panose="020F0502020204030204" pitchFamily="34" charset="0"/>
                        <a:ea typeface="Calibri" panose="020F0502020204030204" pitchFamily="34" charset="0"/>
                      </a:endParaRPr>
                    </a:p>
                  </a:txBody>
                  <a:tcPr marL="86548" marR="69118" marT="0" marB="0" anchor="ctr"/>
                </a:tc>
                <a:tc>
                  <a:txBody>
                    <a:bodyPr/>
                    <a:lstStyle/>
                    <a:p>
                      <a:pPr marL="1270">
                        <a:lnSpc>
                          <a:spcPct val="107000"/>
                        </a:lnSpc>
                        <a:spcAft>
                          <a:spcPts val="800"/>
                        </a:spcAft>
                        <a:buNone/>
                      </a:pPr>
                      <a:r>
                        <a:rPr lang="en-IN" sz="1100" kern="100" dirty="0">
                          <a:effectLst/>
                        </a:rPr>
                        <a:t>Fewer per host</a:t>
                      </a:r>
                      <a:endParaRPr lang="en-IN" sz="1000" kern="100" dirty="0">
                        <a:solidFill>
                          <a:srgbClr val="000000"/>
                        </a:solidFill>
                        <a:effectLst/>
                        <a:latin typeface="Calibri" panose="020F0502020204030204" pitchFamily="34" charset="0"/>
                        <a:ea typeface="Calibri" panose="020F0502020204030204" pitchFamily="34" charset="0"/>
                      </a:endParaRPr>
                    </a:p>
                  </a:txBody>
                  <a:tcPr marL="86548" marR="69118" marT="0" marB="0" anchor="ctr"/>
                </a:tc>
                <a:extLst>
                  <a:ext uri="{0D108BD9-81ED-4DB2-BD59-A6C34878D82A}">
                    <a16:rowId xmlns:a16="http://schemas.microsoft.com/office/drawing/2014/main" val="177519903"/>
                  </a:ext>
                </a:extLst>
              </a:tr>
            </a:tbl>
          </a:graphicData>
        </a:graphic>
      </p:graphicFrame>
      <p:grpSp>
        <p:nvGrpSpPr>
          <p:cNvPr id="4" name="Group 3">
            <a:extLst>
              <a:ext uri="{FF2B5EF4-FFF2-40B4-BE49-F238E27FC236}">
                <a16:creationId xmlns:a16="http://schemas.microsoft.com/office/drawing/2014/main" id="{2B317178-ADFE-B768-89BF-944DE90A41FD}"/>
              </a:ext>
            </a:extLst>
          </p:cNvPr>
          <p:cNvGrpSpPr/>
          <p:nvPr/>
        </p:nvGrpSpPr>
        <p:grpSpPr>
          <a:xfrm>
            <a:off x="8869680" y="0"/>
            <a:ext cx="3322320" cy="3200400"/>
            <a:chOff x="0" y="0"/>
            <a:chExt cx="3322320" cy="3200400"/>
          </a:xfrm>
        </p:grpSpPr>
        <p:sp>
          <p:nvSpPr>
            <p:cNvPr id="5" name="Shape 7">
              <a:extLst>
                <a:ext uri="{FF2B5EF4-FFF2-40B4-BE49-F238E27FC236}">
                  <a16:creationId xmlns:a16="http://schemas.microsoft.com/office/drawing/2014/main" id="{078EB05C-3088-4AD1-EA1C-B6ED9588DF5A}"/>
                </a:ext>
              </a:extLst>
            </p:cNvPr>
            <p:cNvSpPr/>
            <p:nvPr/>
          </p:nvSpPr>
          <p:spPr>
            <a:xfrm>
              <a:off x="0" y="0"/>
              <a:ext cx="3322320" cy="3200400"/>
            </a:xfrm>
            <a:custGeom>
              <a:avLst/>
              <a:gdLst/>
              <a:ahLst/>
              <a:cxnLst/>
              <a:rect l="0" t="0" r="0" b="0"/>
              <a:pathLst>
                <a:path w="3322320" h="3200400">
                  <a:moveTo>
                    <a:pt x="190766" y="0"/>
                  </a:moveTo>
                  <a:lnTo>
                    <a:pt x="3322320" y="0"/>
                  </a:lnTo>
                  <a:lnTo>
                    <a:pt x="3322320" y="2951797"/>
                  </a:lnTo>
                  <a:lnTo>
                    <a:pt x="3277068" y="2974973"/>
                  </a:lnTo>
                  <a:cubicBezTo>
                    <a:pt x="2977254" y="3119440"/>
                    <a:pt x="2641080" y="3200400"/>
                    <a:pt x="2286000" y="3200400"/>
                  </a:cubicBezTo>
                  <a:cubicBezTo>
                    <a:pt x="1023493" y="3200400"/>
                    <a:pt x="0" y="2176907"/>
                    <a:pt x="0" y="914400"/>
                  </a:cubicBezTo>
                  <a:cubicBezTo>
                    <a:pt x="0" y="598773"/>
                    <a:pt x="63968" y="298085"/>
                    <a:pt x="179647" y="24593"/>
                  </a:cubicBezTo>
                  <a:lnTo>
                    <a:pt x="190766" y="0"/>
                  </a:lnTo>
                  <a:close/>
                </a:path>
              </a:pathLst>
            </a:custGeom>
            <a:ln w="0" cap="flat">
              <a:miter lim="127000"/>
            </a:ln>
          </p:spPr>
          <p:style>
            <a:lnRef idx="0">
              <a:srgbClr val="000000">
                <a:alpha val="0"/>
              </a:srgbClr>
            </a:lnRef>
            <a:fillRef idx="1">
              <a:srgbClr val="065A82">
                <a:alpha val="45098"/>
              </a:srgbClr>
            </a:fillRef>
            <a:effectRef idx="0">
              <a:scrgbClr r="0" g="0" b="0"/>
            </a:effectRef>
            <a:fontRef idx="none"/>
          </p:style>
          <p:txBody>
            <a:bodyPr/>
            <a:lstStyle/>
            <a:p>
              <a:endParaRPr lang="en-IN"/>
            </a:p>
          </p:txBody>
        </p:sp>
      </p:grpSp>
      <p:grpSp>
        <p:nvGrpSpPr>
          <p:cNvPr id="6" name="Group 5">
            <a:extLst>
              <a:ext uri="{FF2B5EF4-FFF2-40B4-BE49-F238E27FC236}">
                <a16:creationId xmlns:a16="http://schemas.microsoft.com/office/drawing/2014/main" id="{FEAC3FDB-319B-6FE7-AB30-45B2CD01E348}"/>
              </a:ext>
            </a:extLst>
          </p:cNvPr>
          <p:cNvGrpSpPr/>
          <p:nvPr/>
        </p:nvGrpSpPr>
        <p:grpSpPr>
          <a:xfrm>
            <a:off x="10515600" y="3840480"/>
            <a:ext cx="1676400" cy="2925445"/>
            <a:chOff x="0" y="0"/>
            <a:chExt cx="1676400" cy="2926079"/>
          </a:xfrm>
        </p:grpSpPr>
        <p:sp>
          <p:nvSpPr>
            <p:cNvPr id="7" name="Shape 8">
              <a:extLst>
                <a:ext uri="{FF2B5EF4-FFF2-40B4-BE49-F238E27FC236}">
                  <a16:creationId xmlns:a16="http://schemas.microsoft.com/office/drawing/2014/main" id="{3631281C-3C61-2473-E521-1E88848BE8F7}"/>
                </a:ext>
              </a:extLst>
            </p:cNvPr>
            <p:cNvSpPr/>
            <p:nvPr/>
          </p:nvSpPr>
          <p:spPr>
            <a:xfrm>
              <a:off x="0" y="0"/>
              <a:ext cx="1676400" cy="2926079"/>
            </a:xfrm>
            <a:custGeom>
              <a:avLst/>
              <a:gdLst/>
              <a:ahLst/>
              <a:cxnLst/>
              <a:rect l="0" t="0" r="0" b="0"/>
              <a:pathLst>
                <a:path w="1676400" h="2926079">
                  <a:moveTo>
                    <a:pt x="1463040" y="0"/>
                  </a:moveTo>
                  <a:cubicBezTo>
                    <a:pt x="1513539" y="0"/>
                    <a:pt x="1563440" y="2559"/>
                    <a:pt x="1612621" y="7554"/>
                  </a:cubicBezTo>
                  <a:lnTo>
                    <a:pt x="1676400" y="17289"/>
                  </a:lnTo>
                  <a:lnTo>
                    <a:pt x="1676400" y="2908791"/>
                  </a:lnTo>
                  <a:lnTo>
                    <a:pt x="1612621" y="2918525"/>
                  </a:lnTo>
                  <a:cubicBezTo>
                    <a:pt x="1563440" y="2923521"/>
                    <a:pt x="1513539" y="2926079"/>
                    <a:pt x="1463040" y="2926079"/>
                  </a:cubicBezTo>
                  <a:cubicBezTo>
                    <a:pt x="655066" y="2926079"/>
                    <a:pt x="0" y="2271052"/>
                    <a:pt x="0" y="1463040"/>
                  </a:cubicBezTo>
                  <a:cubicBezTo>
                    <a:pt x="0" y="655066"/>
                    <a:pt x="655066" y="0"/>
                    <a:pt x="1463040" y="0"/>
                  </a:cubicBezTo>
                  <a:close/>
                </a:path>
              </a:pathLst>
            </a:custGeom>
            <a:ln w="0" cap="flat">
              <a:miter lim="127000"/>
            </a:ln>
          </p:spPr>
          <p:style>
            <a:lnRef idx="0">
              <a:srgbClr val="000000">
                <a:alpha val="0"/>
              </a:srgbClr>
            </a:lnRef>
            <a:fillRef idx="1">
              <a:srgbClr val="1C7293">
                <a:alpha val="45098"/>
              </a:srgbClr>
            </a:fillRef>
            <a:effectRef idx="0">
              <a:scrgbClr r="0" g="0" b="0"/>
            </a:effectRef>
            <a:fontRef idx="none"/>
          </p:style>
          <p:txBody>
            <a:bodyPr/>
            <a:lstStyle/>
            <a:p>
              <a:endParaRPr lang="en-IN"/>
            </a:p>
          </p:txBody>
        </p:sp>
      </p:grpSp>
      <p:sp>
        <p:nvSpPr>
          <p:cNvPr id="8" name="Rectangle 5">
            <a:extLst>
              <a:ext uri="{FF2B5EF4-FFF2-40B4-BE49-F238E27FC236}">
                <a16:creationId xmlns:a16="http://schemas.microsoft.com/office/drawing/2014/main" id="{E04466A6-771A-AFD8-2E75-21DB882F344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2358282" bIns="282486" numCol="1" anchor="ctr" anchorCtr="0" compatLnSpc="1">
            <a:prstTxWarp prst="textNoShape">
              <a:avLst/>
            </a:prstTxWarp>
            <a:spAutoFit/>
          </a:bodyPr>
          <a:lstStyle/>
          <a:p>
            <a:endParaRPr lang="en-IN"/>
          </a:p>
        </p:txBody>
      </p:sp>
      <p:sp>
        <p:nvSpPr>
          <p:cNvPr id="9" name="Rectangle 6">
            <a:extLst>
              <a:ext uri="{FF2B5EF4-FFF2-40B4-BE49-F238E27FC236}">
                <a16:creationId xmlns:a16="http://schemas.microsoft.com/office/drawing/2014/main" id="{9CD94504-791B-9E89-1831-E4B527DDC38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2358282" bIns="28248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FFFFFF"/>
                </a:solidFill>
                <a:effectLst/>
                <a:latin typeface="Arial" panose="020B0604020202020204" pitchFamily="34" charset="0"/>
                <a:ea typeface="Times New Roman" panose="02020603050405020304" pitchFamily="18" charset="0"/>
              </a:rPr>
              <a:t>CSA1508-Cloud Computing And Big Data Analytics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FFFFFF"/>
                </a:solidFill>
                <a:effectLst/>
                <a:latin typeface="Arial" panose="020B0604020202020204" pitchFamily="34" charset="0"/>
                <a:ea typeface="Times New Roman" panose="02020603050405020304" pitchFamily="18" charset="0"/>
              </a:rPr>
              <a:t>C01-AT3-Technical Presentation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TextBox 11">
            <a:extLst>
              <a:ext uri="{FF2B5EF4-FFF2-40B4-BE49-F238E27FC236}">
                <a16:creationId xmlns:a16="http://schemas.microsoft.com/office/drawing/2014/main" id="{9C8F31EE-EE82-DB53-84B6-58DAD904CA00}"/>
              </a:ext>
            </a:extLst>
          </p:cNvPr>
          <p:cNvSpPr txBox="1"/>
          <p:nvPr/>
        </p:nvSpPr>
        <p:spPr>
          <a:xfrm>
            <a:off x="366531" y="228600"/>
            <a:ext cx="11458937" cy="4334503"/>
          </a:xfrm>
          <a:prstGeom prst="rect">
            <a:avLst/>
          </a:prstGeom>
          <a:noFill/>
        </p:spPr>
        <p:txBody>
          <a:bodyPr wrap="square">
            <a:spAutoFit/>
          </a:bodyPr>
          <a:lstStyle/>
          <a:p>
            <a:pPr marL="93980" marR="2358390" indent="-6350" algn="l">
              <a:lnSpc>
                <a:spcPct val="107000"/>
              </a:lnSpc>
              <a:spcAft>
                <a:spcPts val="2475"/>
              </a:spcAft>
              <a:buNone/>
            </a:pPr>
            <a:r>
              <a:rPr lang="en-IN" sz="4400" b="1" kern="100" dirty="0">
                <a:solidFill>
                  <a:srgbClr val="1B2733"/>
                </a:solidFill>
                <a:effectLst/>
                <a:latin typeface="Cambria" panose="02040503050406030204" pitchFamily="18" charset="0"/>
                <a:ea typeface="Cambria" panose="02040503050406030204" pitchFamily="18" charset="0"/>
                <a:cs typeface="Cambria" panose="02040503050406030204" pitchFamily="18" charset="0"/>
              </a:rPr>
              <a:t>Definitions</a:t>
            </a:r>
            <a:endParaRPr lang="en-IN" sz="3600" b="1" kern="100" dirty="0">
              <a:solidFill>
                <a:srgbClr val="FFFFFF"/>
              </a:solidFill>
              <a:effectLst/>
              <a:latin typeface="Times New Roman" panose="02020603050405020304" pitchFamily="18" charset="0"/>
              <a:ea typeface="Times New Roman" panose="02020603050405020304" pitchFamily="18" charset="0"/>
            </a:endParaRPr>
          </a:p>
          <a:p>
            <a:pPr marL="84455" indent="-6350">
              <a:lnSpc>
                <a:spcPct val="107000"/>
              </a:lnSpc>
              <a:spcAft>
                <a:spcPts val="1200"/>
              </a:spcAft>
              <a:buNone/>
            </a:pPr>
            <a:r>
              <a:rPr lang="en-IN" sz="2400" b="1" kern="100" dirty="0">
                <a:solidFill>
                  <a:srgbClr val="1B2733"/>
                </a:solidFill>
                <a:effectLst/>
                <a:latin typeface="Calibri" panose="020F0502020204030204" pitchFamily="34" charset="0"/>
                <a:ea typeface="Calibri" panose="020F0502020204030204" pitchFamily="34" charset="0"/>
              </a:rPr>
              <a:t>What is Containerization?</a:t>
            </a:r>
            <a:endParaRPr lang="en-IN" sz="1400" kern="100" dirty="0">
              <a:solidFill>
                <a:srgbClr val="000000"/>
              </a:solidFill>
              <a:effectLst/>
              <a:latin typeface="Calibri" panose="020F0502020204030204" pitchFamily="34" charset="0"/>
              <a:ea typeface="Calibri" panose="020F0502020204030204" pitchFamily="34" charset="0"/>
            </a:endParaRPr>
          </a:p>
          <a:p>
            <a:pPr marL="264160" indent="-6350">
              <a:lnSpc>
                <a:spcPct val="109000"/>
              </a:lnSpc>
              <a:spcAft>
                <a:spcPts val="1890"/>
              </a:spcAft>
              <a:buNone/>
            </a:pPr>
            <a:r>
              <a:rPr lang="en-IN" sz="1800" kern="100" dirty="0">
                <a:solidFill>
                  <a:srgbClr val="5B6B79"/>
                </a:solidFill>
                <a:effectLst/>
                <a:latin typeface="Calibri" panose="020F0502020204030204" pitchFamily="34" charset="0"/>
                <a:ea typeface="Calibri" panose="020F0502020204030204" pitchFamily="34" charset="0"/>
              </a:rPr>
              <a:t>A method of packaging an application with all its code, libraries, and dependencies into a single lightweight, portable unit called a container — so it runs consistently across any environment.</a:t>
            </a:r>
            <a:endParaRPr lang="en-IN" sz="1400" kern="100" dirty="0">
              <a:solidFill>
                <a:srgbClr val="000000"/>
              </a:solidFill>
              <a:effectLst/>
              <a:latin typeface="Calibri" panose="020F0502020204030204" pitchFamily="34" charset="0"/>
              <a:ea typeface="Calibri" panose="020F0502020204030204" pitchFamily="34" charset="0"/>
            </a:endParaRPr>
          </a:p>
          <a:p>
            <a:pPr marL="84455" indent="-6350">
              <a:lnSpc>
                <a:spcPct val="107000"/>
              </a:lnSpc>
              <a:spcAft>
                <a:spcPts val="960"/>
              </a:spcAft>
              <a:buNone/>
            </a:pPr>
            <a:r>
              <a:rPr lang="en-IN" sz="2400" b="1" kern="100" dirty="0">
                <a:solidFill>
                  <a:srgbClr val="1B2733"/>
                </a:solidFill>
                <a:effectLst/>
                <a:latin typeface="Calibri" panose="020F0502020204030204" pitchFamily="34" charset="0"/>
                <a:ea typeface="Calibri" panose="020F0502020204030204" pitchFamily="34" charset="0"/>
              </a:rPr>
              <a:t>What are Cloud-Native Apps?</a:t>
            </a:r>
            <a:endParaRPr lang="en-IN" sz="1400" kern="100" dirty="0">
              <a:solidFill>
                <a:srgbClr val="000000"/>
              </a:solidFill>
              <a:effectLst/>
              <a:latin typeface="Calibri" panose="020F0502020204030204" pitchFamily="34" charset="0"/>
              <a:ea typeface="Calibri" panose="020F0502020204030204" pitchFamily="34" charset="0"/>
            </a:endParaRPr>
          </a:p>
          <a:p>
            <a:pPr marL="264160" indent="-6350">
              <a:lnSpc>
                <a:spcPct val="109000"/>
              </a:lnSpc>
              <a:spcAft>
                <a:spcPts val="2880"/>
              </a:spcAft>
              <a:buNone/>
            </a:pPr>
            <a:r>
              <a:rPr lang="en-IN" sz="1800" kern="100" dirty="0">
                <a:solidFill>
                  <a:srgbClr val="5B6B79"/>
                </a:solidFill>
                <a:effectLst/>
                <a:latin typeface="Calibri" panose="020F0502020204030204" pitchFamily="34" charset="0"/>
                <a:ea typeface="Calibri" panose="020F0502020204030204" pitchFamily="34" charset="0"/>
              </a:rPr>
              <a:t>Applications purpose-built to exploit cloud computing — designed as loosely-coupled microservices, packaged in containers, and dynamically orchestrated for elasticity, resilience, and rapid updates.</a:t>
            </a:r>
            <a:endParaRPr lang="en-IN" sz="1400" kern="100" dirty="0">
              <a:solidFill>
                <a:srgbClr val="000000"/>
              </a:solidFill>
              <a:effectLst/>
              <a:latin typeface="Calibri" panose="020F0502020204030204" pitchFamily="34" charset="0"/>
              <a:ea typeface="Calibri" panose="020F0502020204030204" pitchFamily="34" charset="0"/>
            </a:endParaRPr>
          </a:p>
          <a:p>
            <a:pPr marL="87630" indent="-6350">
              <a:lnSpc>
                <a:spcPct val="107000"/>
              </a:lnSpc>
              <a:spcAft>
                <a:spcPts val="385"/>
              </a:spcAft>
              <a:buNone/>
            </a:pPr>
            <a:r>
              <a:rPr lang="en-IN" sz="2000" b="1" kern="100" dirty="0">
                <a:solidFill>
                  <a:srgbClr val="1B2733"/>
                </a:solidFill>
                <a:effectLst/>
                <a:latin typeface="Calibri" panose="020F0502020204030204" pitchFamily="34" charset="0"/>
                <a:ea typeface="Calibri" panose="020F0502020204030204" pitchFamily="34" charset="0"/>
              </a:rPr>
              <a:t>Containers vs. Virtual Machines</a:t>
            </a:r>
            <a:endParaRPr lang="en-IN" sz="3200" b="1" kern="100" dirty="0">
              <a:solidFill>
                <a:srgbClr val="44546A"/>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80728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10010-E082-B77D-FA38-B0ACB4DCDBF9}"/>
              </a:ext>
            </a:extLst>
          </p:cNvPr>
          <p:cNvSpPr>
            <a:spLocks noGrp="1"/>
          </p:cNvSpPr>
          <p:nvPr>
            <p:ph type="title"/>
          </p:nvPr>
        </p:nvSpPr>
        <p:spPr>
          <a:xfrm>
            <a:off x="480907" y="356661"/>
            <a:ext cx="10515600" cy="1325563"/>
          </a:xfrm>
        </p:spPr>
        <p:txBody>
          <a:bodyPr>
            <a:normAutofit fontScale="90000"/>
          </a:bodyPr>
          <a:lstStyle/>
          <a:p>
            <a:br>
              <a:rPr lang="en-IN" b="1" dirty="0"/>
            </a:br>
            <a:r>
              <a:rPr lang="en-IN" b="1" dirty="0"/>
              <a:t>Cloud-Native Architecture</a:t>
            </a:r>
            <a:br>
              <a:rPr lang="en-IN" b="1" dirty="0"/>
            </a:br>
            <a:endParaRPr lang="en-IN" dirty="0"/>
          </a:p>
        </p:txBody>
      </p:sp>
      <p:grpSp>
        <p:nvGrpSpPr>
          <p:cNvPr id="4" name="Group 3">
            <a:extLst>
              <a:ext uri="{FF2B5EF4-FFF2-40B4-BE49-F238E27FC236}">
                <a16:creationId xmlns:a16="http://schemas.microsoft.com/office/drawing/2014/main" id="{5B794679-485D-AF1C-DA16-BD446D262F6C}"/>
              </a:ext>
            </a:extLst>
          </p:cNvPr>
          <p:cNvGrpSpPr/>
          <p:nvPr/>
        </p:nvGrpSpPr>
        <p:grpSpPr>
          <a:xfrm>
            <a:off x="8869680" y="0"/>
            <a:ext cx="3322320" cy="3200400"/>
            <a:chOff x="0" y="0"/>
            <a:chExt cx="3322320" cy="3200400"/>
          </a:xfrm>
        </p:grpSpPr>
        <p:sp>
          <p:nvSpPr>
            <p:cNvPr id="5" name="Shape 7">
              <a:extLst>
                <a:ext uri="{FF2B5EF4-FFF2-40B4-BE49-F238E27FC236}">
                  <a16:creationId xmlns:a16="http://schemas.microsoft.com/office/drawing/2014/main" id="{31E6FC9F-B32A-47C3-AD9F-0F8E93C69F56}"/>
                </a:ext>
              </a:extLst>
            </p:cNvPr>
            <p:cNvSpPr/>
            <p:nvPr/>
          </p:nvSpPr>
          <p:spPr>
            <a:xfrm>
              <a:off x="0" y="0"/>
              <a:ext cx="3322320" cy="3200400"/>
            </a:xfrm>
            <a:custGeom>
              <a:avLst/>
              <a:gdLst/>
              <a:ahLst/>
              <a:cxnLst/>
              <a:rect l="0" t="0" r="0" b="0"/>
              <a:pathLst>
                <a:path w="3322320" h="3200400">
                  <a:moveTo>
                    <a:pt x="190766" y="0"/>
                  </a:moveTo>
                  <a:lnTo>
                    <a:pt x="3322320" y="0"/>
                  </a:lnTo>
                  <a:lnTo>
                    <a:pt x="3322320" y="2951797"/>
                  </a:lnTo>
                  <a:lnTo>
                    <a:pt x="3277068" y="2974973"/>
                  </a:lnTo>
                  <a:cubicBezTo>
                    <a:pt x="2977254" y="3119440"/>
                    <a:pt x="2641080" y="3200400"/>
                    <a:pt x="2286000" y="3200400"/>
                  </a:cubicBezTo>
                  <a:cubicBezTo>
                    <a:pt x="1023493" y="3200400"/>
                    <a:pt x="0" y="2176907"/>
                    <a:pt x="0" y="914400"/>
                  </a:cubicBezTo>
                  <a:cubicBezTo>
                    <a:pt x="0" y="598773"/>
                    <a:pt x="63968" y="298085"/>
                    <a:pt x="179647" y="24593"/>
                  </a:cubicBezTo>
                  <a:lnTo>
                    <a:pt x="190766" y="0"/>
                  </a:lnTo>
                  <a:close/>
                </a:path>
              </a:pathLst>
            </a:custGeom>
            <a:ln w="0" cap="flat">
              <a:miter lim="127000"/>
            </a:ln>
          </p:spPr>
          <p:style>
            <a:lnRef idx="0">
              <a:srgbClr val="000000">
                <a:alpha val="0"/>
              </a:srgbClr>
            </a:lnRef>
            <a:fillRef idx="1">
              <a:srgbClr val="065A82">
                <a:alpha val="45098"/>
              </a:srgbClr>
            </a:fillRef>
            <a:effectRef idx="0">
              <a:scrgbClr r="0" g="0" b="0"/>
            </a:effectRef>
            <a:fontRef idx="none"/>
          </p:style>
          <p:txBody>
            <a:bodyPr/>
            <a:lstStyle/>
            <a:p>
              <a:endParaRPr lang="en-IN"/>
            </a:p>
          </p:txBody>
        </p:sp>
      </p:grpSp>
      <p:grpSp>
        <p:nvGrpSpPr>
          <p:cNvPr id="6" name="Group 5">
            <a:extLst>
              <a:ext uri="{FF2B5EF4-FFF2-40B4-BE49-F238E27FC236}">
                <a16:creationId xmlns:a16="http://schemas.microsoft.com/office/drawing/2014/main" id="{7009F966-2F33-953C-B828-8DFB74016035}"/>
              </a:ext>
            </a:extLst>
          </p:cNvPr>
          <p:cNvGrpSpPr/>
          <p:nvPr/>
        </p:nvGrpSpPr>
        <p:grpSpPr>
          <a:xfrm>
            <a:off x="10515600" y="3840480"/>
            <a:ext cx="1676400" cy="2925445"/>
            <a:chOff x="0" y="0"/>
            <a:chExt cx="1676400" cy="2926079"/>
          </a:xfrm>
        </p:grpSpPr>
        <p:sp>
          <p:nvSpPr>
            <p:cNvPr id="7" name="Shape 8">
              <a:extLst>
                <a:ext uri="{FF2B5EF4-FFF2-40B4-BE49-F238E27FC236}">
                  <a16:creationId xmlns:a16="http://schemas.microsoft.com/office/drawing/2014/main" id="{9053E6FF-E357-917F-857D-1715B4E2D1D6}"/>
                </a:ext>
              </a:extLst>
            </p:cNvPr>
            <p:cNvSpPr/>
            <p:nvPr/>
          </p:nvSpPr>
          <p:spPr>
            <a:xfrm>
              <a:off x="0" y="0"/>
              <a:ext cx="1676400" cy="2926079"/>
            </a:xfrm>
            <a:custGeom>
              <a:avLst/>
              <a:gdLst/>
              <a:ahLst/>
              <a:cxnLst/>
              <a:rect l="0" t="0" r="0" b="0"/>
              <a:pathLst>
                <a:path w="1676400" h="2926079">
                  <a:moveTo>
                    <a:pt x="1463040" y="0"/>
                  </a:moveTo>
                  <a:cubicBezTo>
                    <a:pt x="1513539" y="0"/>
                    <a:pt x="1563440" y="2559"/>
                    <a:pt x="1612621" y="7554"/>
                  </a:cubicBezTo>
                  <a:lnTo>
                    <a:pt x="1676400" y="17289"/>
                  </a:lnTo>
                  <a:lnTo>
                    <a:pt x="1676400" y="2908791"/>
                  </a:lnTo>
                  <a:lnTo>
                    <a:pt x="1612621" y="2918525"/>
                  </a:lnTo>
                  <a:cubicBezTo>
                    <a:pt x="1563440" y="2923521"/>
                    <a:pt x="1513539" y="2926079"/>
                    <a:pt x="1463040" y="2926079"/>
                  </a:cubicBezTo>
                  <a:cubicBezTo>
                    <a:pt x="655066" y="2926079"/>
                    <a:pt x="0" y="2271052"/>
                    <a:pt x="0" y="1463040"/>
                  </a:cubicBezTo>
                  <a:cubicBezTo>
                    <a:pt x="0" y="655066"/>
                    <a:pt x="655066" y="0"/>
                    <a:pt x="1463040" y="0"/>
                  </a:cubicBezTo>
                  <a:close/>
                </a:path>
              </a:pathLst>
            </a:custGeom>
            <a:ln w="0" cap="flat">
              <a:miter lim="127000"/>
            </a:ln>
          </p:spPr>
          <p:style>
            <a:lnRef idx="0">
              <a:srgbClr val="000000">
                <a:alpha val="0"/>
              </a:srgbClr>
            </a:lnRef>
            <a:fillRef idx="1">
              <a:srgbClr val="1C7293">
                <a:alpha val="45098"/>
              </a:srgbClr>
            </a:fillRef>
            <a:effectRef idx="0">
              <a:scrgbClr r="0" g="0" b="0"/>
            </a:effectRef>
            <a:fontRef idx="none"/>
          </p:style>
          <p:txBody>
            <a:bodyPr/>
            <a:lstStyle/>
            <a:p>
              <a:endParaRPr lang="en-IN"/>
            </a:p>
          </p:txBody>
        </p:sp>
      </p:grpSp>
      <p:sp>
        <p:nvSpPr>
          <p:cNvPr id="8" name="Rectangle 5">
            <a:extLst>
              <a:ext uri="{FF2B5EF4-FFF2-40B4-BE49-F238E27FC236}">
                <a16:creationId xmlns:a16="http://schemas.microsoft.com/office/drawing/2014/main" id="{F1A24B6A-094A-6CF2-FBE1-30878147376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2358282" bIns="282486" numCol="1" anchor="ctr" anchorCtr="0" compatLnSpc="1">
            <a:prstTxWarp prst="textNoShape">
              <a:avLst/>
            </a:prstTxWarp>
            <a:spAutoFit/>
          </a:bodyPr>
          <a:lstStyle/>
          <a:p>
            <a:endParaRPr lang="en-IN"/>
          </a:p>
        </p:txBody>
      </p:sp>
      <p:grpSp>
        <p:nvGrpSpPr>
          <p:cNvPr id="10" name="Group 9">
            <a:extLst>
              <a:ext uri="{FF2B5EF4-FFF2-40B4-BE49-F238E27FC236}">
                <a16:creationId xmlns:a16="http://schemas.microsoft.com/office/drawing/2014/main" id="{964017C0-D6B2-3FB5-9DEE-E40C4E42D574}"/>
              </a:ext>
            </a:extLst>
          </p:cNvPr>
          <p:cNvGrpSpPr/>
          <p:nvPr/>
        </p:nvGrpSpPr>
        <p:grpSpPr>
          <a:xfrm>
            <a:off x="480907" y="1760061"/>
            <a:ext cx="11366401" cy="2032635"/>
            <a:chOff x="0" y="0"/>
            <a:chExt cx="11366401" cy="2033016"/>
          </a:xfrm>
        </p:grpSpPr>
        <p:sp>
          <p:nvSpPr>
            <p:cNvPr id="11" name="Shape 117">
              <a:extLst>
                <a:ext uri="{FF2B5EF4-FFF2-40B4-BE49-F238E27FC236}">
                  <a16:creationId xmlns:a16="http://schemas.microsoft.com/office/drawing/2014/main" id="{84783155-2B2A-FDCE-0167-7453264042F5}"/>
                </a:ext>
              </a:extLst>
            </p:cNvPr>
            <p:cNvSpPr/>
            <p:nvPr/>
          </p:nvSpPr>
          <p:spPr>
            <a:xfrm>
              <a:off x="0" y="0"/>
              <a:ext cx="1874520" cy="1965960"/>
            </a:xfrm>
            <a:custGeom>
              <a:avLst/>
              <a:gdLst/>
              <a:ahLst/>
              <a:cxnLst/>
              <a:rect l="0" t="0" r="0" b="0"/>
              <a:pathLst>
                <a:path w="1874520" h="1965960">
                  <a:moveTo>
                    <a:pt x="91440" y="0"/>
                  </a:moveTo>
                  <a:lnTo>
                    <a:pt x="1783080" y="0"/>
                  </a:lnTo>
                  <a:cubicBezTo>
                    <a:pt x="1833626" y="0"/>
                    <a:pt x="1874520" y="40894"/>
                    <a:pt x="1874520" y="91440"/>
                  </a:cubicBezTo>
                  <a:lnTo>
                    <a:pt x="1874520" y="1874520"/>
                  </a:lnTo>
                  <a:cubicBezTo>
                    <a:pt x="1874520" y="1925066"/>
                    <a:pt x="1833626" y="1965960"/>
                    <a:pt x="1783080" y="1965960"/>
                  </a:cubicBezTo>
                  <a:lnTo>
                    <a:pt x="91440" y="1965960"/>
                  </a:lnTo>
                  <a:cubicBezTo>
                    <a:pt x="40945" y="1965960"/>
                    <a:pt x="0" y="1925066"/>
                    <a:pt x="0" y="1874520"/>
                  </a:cubicBezTo>
                  <a:lnTo>
                    <a:pt x="0" y="91440"/>
                  </a:lnTo>
                  <a:cubicBezTo>
                    <a:pt x="0" y="40894"/>
                    <a:pt x="40945" y="0"/>
                    <a:pt x="91440" y="0"/>
                  </a:cubicBezTo>
                  <a:close/>
                </a:path>
              </a:pathLst>
            </a:custGeom>
            <a:ln w="0" cap="flat">
              <a:miter lim="127000"/>
            </a:ln>
          </p:spPr>
          <p:style>
            <a:lnRef idx="0">
              <a:srgbClr val="000000">
                <a:alpha val="0"/>
              </a:srgbClr>
            </a:lnRef>
            <a:fillRef idx="1">
              <a:srgbClr val="21295C"/>
            </a:fillRef>
            <a:effectRef idx="0">
              <a:scrgbClr r="0" g="0" b="0"/>
            </a:effectRef>
            <a:fontRef idx="none"/>
          </p:style>
          <p:txBody>
            <a:bodyPr/>
            <a:lstStyle/>
            <a:p>
              <a:endParaRPr lang="en-IN"/>
            </a:p>
          </p:txBody>
        </p:sp>
        <p:sp>
          <p:nvSpPr>
            <p:cNvPr id="12" name="Shape 118">
              <a:extLst>
                <a:ext uri="{FF2B5EF4-FFF2-40B4-BE49-F238E27FC236}">
                  <a16:creationId xmlns:a16="http://schemas.microsoft.com/office/drawing/2014/main" id="{60FD4F0A-451C-4A0B-1D4A-622AC9F1BF29}"/>
                </a:ext>
              </a:extLst>
            </p:cNvPr>
            <p:cNvSpPr/>
            <p:nvPr/>
          </p:nvSpPr>
          <p:spPr>
            <a:xfrm>
              <a:off x="484632" y="368808"/>
              <a:ext cx="585216" cy="585216"/>
            </a:xfrm>
            <a:custGeom>
              <a:avLst/>
              <a:gdLst/>
              <a:ahLst/>
              <a:cxnLst/>
              <a:rect l="0" t="0" r="0" b="0"/>
              <a:pathLst>
                <a:path w="585216" h="585216">
                  <a:moveTo>
                    <a:pt x="292608" y="0"/>
                  </a:moveTo>
                  <a:cubicBezTo>
                    <a:pt x="454152" y="0"/>
                    <a:pt x="585216" y="131064"/>
                    <a:pt x="585216" y="292608"/>
                  </a:cubicBezTo>
                  <a:cubicBezTo>
                    <a:pt x="585216" y="454152"/>
                    <a:pt x="454152" y="585216"/>
                    <a:pt x="292608" y="585216"/>
                  </a:cubicBezTo>
                  <a:cubicBezTo>
                    <a:pt x="131000" y="585216"/>
                    <a:pt x="0" y="454152"/>
                    <a:pt x="0" y="292608"/>
                  </a:cubicBezTo>
                  <a:cubicBezTo>
                    <a:pt x="0" y="131064"/>
                    <a:pt x="131000" y="0"/>
                    <a:pt x="292608" y="0"/>
                  </a:cubicBezTo>
                  <a:close/>
                </a:path>
              </a:pathLst>
            </a:custGeom>
            <a:ln w="0" cap="flat">
              <a:miter lim="127000"/>
            </a:ln>
          </p:spPr>
          <p:style>
            <a:lnRef idx="0">
              <a:srgbClr val="000000">
                <a:alpha val="0"/>
              </a:srgbClr>
            </a:lnRef>
            <a:fillRef idx="1">
              <a:srgbClr val="FFFFFF">
                <a:alpha val="87843"/>
              </a:srgbClr>
            </a:fillRef>
            <a:effectRef idx="0">
              <a:scrgbClr r="0" g="0" b="0"/>
            </a:effectRef>
            <a:fontRef idx="none"/>
          </p:style>
          <p:txBody>
            <a:bodyPr/>
            <a:lstStyle/>
            <a:p>
              <a:endParaRPr lang="en-IN"/>
            </a:p>
          </p:txBody>
        </p:sp>
        <p:pic>
          <p:nvPicPr>
            <p:cNvPr id="13" name="Picture 12">
              <a:extLst>
                <a:ext uri="{FF2B5EF4-FFF2-40B4-BE49-F238E27FC236}">
                  <a16:creationId xmlns:a16="http://schemas.microsoft.com/office/drawing/2014/main" id="{F7A48427-BD97-F174-338C-0C667AC1BE70}"/>
                </a:ext>
              </a:extLst>
            </p:cNvPr>
            <p:cNvPicPr/>
            <p:nvPr/>
          </p:nvPicPr>
          <p:blipFill>
            <a:blip r:embed="rId2"/>
            <a:stretch>
              <a:fillRect/>
            </a:stretch>
          </p:blipFill>
          <p:spPr>
            <a:xfrm>
              <a:off x="640080" y="484632"/>
              <a:ext cx="347472" cy="347472"/>
            </a:xfrm>
            <a:prstGeom prst="rect">
              <a:avLst/>
            </a:prstGeom>
          </p:spPr>
        </p:pic>
        <p:sp>
          <p:nvSpPr>
            <p:cNvPr id="14" name="Rectangle 13">
              <a:extLst>
                <a:ext uri="{FF2B5EF4-FFF2-40B4-BE49-F238E27FC236}">
                  <a16:creationId xmlns:a16="http://schemas.microsoft.com/office/drawing/2014/main" id="{C91D699A-7A4F-5CCC-88D0-A1E4A8AB4CB3}"/>
                </a:ext>
              </a:extLst>
            </p:cNvPr>
            <p:cNvSpPr/>
            <p:nvPr/>
          </p:nvSpPr>
          <p:spPr>
            <a:xfrm>
              <a:off x="467258" y="1143254"/>
              <a:ext cx="933202" cy="222969"/>
            </a:xfrm>
            <a:prstGeom prst="rect">
              <a:avLst/>
            </a:prstGeom>
            <a:ln>
              <a:noFill/>
            </a:ln>
          </p:spPr>
          <p:txBody>
            <a:bodyPr vert="horz" lIns="0" tIns="0" rIns="0" bIns="0" rtlCol="0">
              <a:noAutofit/>
            </a:bodyPr>
            <a:lstStyle/>
            <a:p>
              <a:pPr>
                <a:lnSpc>
                  <a:spcPct val="107000"/>
                </a:lnSpc>
                <a:spcAft>
                  <a:spcPts val="800"/>
                </a:spcAft>
                <a:buNone/>
              </a:pPr>
              <a:r>
                <a:rPr lang="en-IN" sz="1300" b="1" kern="100">
                  <a:solidFill>
                    <a:srgbClr val="FFFFFF"/>
                  </a:solidFill>
                  <a:effectLst/>
                  <a:latin typeface="Calibri" panose="020F0502020204030204" pitchFamily="34" charset="0"/>
                  <a:ea typeface="Calibri" panose="020F0502020204030204" pitchFamily="34" charset="0"/>
                </a:rPr>
                <a:t>Developer</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15" name="Rectangle 14">
              <a:extLst>
                <a:ext uri="{FF2B5EF4-FFF2-40B4-BE49-F238E27FC236}">
                  <a16:creationId xmlns:a16="http://schemas.microsoft.com/office/drawing/2014/main" id="{B7D376F8-3FD2-EBF6-0DE7-120FDC40F9FD}"/>
                </a:ext>
              </a:extLst>
            </p:cNvPr>
            <p:cNvSpPr/>
            <p:nvPr/>
          </p:nvSpPr>
          <p:spPr>
            <a:xfrm>
              <a:off x="302362" y="1496314"/>
              <a:ext cx="1624293" cy="173420"/>
            </a:xfrm>
            <a:prstGeom prst="rect">
              <a:avLst/>
            </a:prstGeom>
            <a:ln>
              <a:noFill/>
            </a:ln>
          </p:spPr>
          <p:txBody>
            <a:bodyPr vert="horz" lIns="0" tIns="0" rIns="0" bIns="0" rtlCol="0">
              <a:noAutofit/>
            </a:bodyPr>
            <a:lstStyle/>
            <a:p>
              <a:pPr>
                <a:lnSpc>
                  <a:spcPct val="107000"/>
                </a:lnSpc>
                <a:spcAft>
                  <a:spcPts val="800"/>
                </a:spcAft>
                <a:buNone/>
              </a:pPr>
              <a:r>
                <a:rPr lang="en-IN" sz="1000" kern="100">
                  <a:solidFill>
                    <a:srgbClr val="D8E6EF"/>
                  </a:solidFill>
                  <a:effectLst/>
                  <a:latin typeface="Calibri" panose="020F0502020204030204" pitchFamily="34" charset="0"/>
                  <a:ea typeface="Calibri" panose="020F0502020204030204" pitchFamily="34" charset="0"/>
                </a:rPr>
                <a:t>Writes application code</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16" name="Shape 123">
              <a:extLst>
                <a:ext uri="{FF2B5EF4-FFF2-40B4-BE49-F238E27FC236}">
                  <a16:creationId xmlns:a16="http://schemas.microsoft.com/office/drawing/2014/main" id="{F565BB3B-C07B-5FE5-D9F7-D9A168F73B44}"/>
                </a:ext>
              </a:extLst>
            </p:cNvPr>
            <p:cNvSpPr/>
            <p:nvPr/>
          </p:nvSpPr>
          <p:spPr>
            <a:xfrm>
              <a:off x="2060448" y="883920"/>
              <a:ext cx="256032" cy="237744"/>
            </a:xfrm>
            <a:custGeom>
              <a:avLst/>
              <a:gdLst/>
              <a:ahLst/>
              <a:cxnLst/>
              <a:rect l="0" t="0" r="0" b="0"/>
              <a:pathLst>
                <a:path w="256032" h="237744">
                  <a:moveTo>
                    <a:pt x="137160" y="0"/>
                  </a:moveTo>
                  <a:lnTo>
                    <a:pt x="256032" y="118872"/>
                  </a:lnTo>
                  <a:lnTo>
                    <a:pt x="137160" y="237744"/>
                  </a:lnTo>
                  <a:lnTo>
                    <a:pt x="137160" y="178308"/>
                  </a:lnTo>
                  <a:lnTo>
                    <a:pt x="0" y="178308"/>
                  </a:lnTo>
                  <a:lnTo>
                    <a:pt x="0" y="59436"/>
                  </a:lnTo>
                  <a:lnTo>
                    <a:pt x="137160" y="59436"/>
                  </a:lnTo>
                  <a:lnTo>
                    <a:pt x="137160" y="0"/>
                  </a:lnTo>
                  <a:close/>
                </a:path>
              </a:pathLst>
            </a:custGeom>
            <a:ln w="0" cap="flat">
              <a:miter lim="127000"/>
            </a:ln>
          </p:spPr>
          <p:style>
            <a:lnRef idx="0">
              <a:srgbClr val="000000">
                <a:alpha val="0"/>
              </a:srgbClr>
            </a:lnRef>
            <a:fillRef idx="1">
              <a:srgbClr val="9FB4C2"/>
            </a:fillRef>
            <a:effectRef idx="0">
              <a:scrgbClr r="0" g="0" b="0"/>
            </a:effectRef>
            <a:fontRef idx="none"/>
          </p:style>
          <p:txBody>
            <a:bodyPr/>
            <a:lstStyle/>
            <a:p>
              <a:endParaRPr lang="en-IN"/>
            </a:p>
          </p:txBody>
        </p:sp>
        <p:sp>
          <p:nvSpPr>
            <p:cNvPr id="17" name="Shape 124">
              <a:extLst>
                <a:ext uri="{FF2B5EF4-FFF2-40B4-BE49-F238E27FC236}">
                  <a16:creationId xmlns:a16="http://schemas.microsoft.com/office/drawing/2014/main" id="{F120A969-CECE-F81B-22DA-6F25FB8C0162}"/>
                </a:ext>
              </a:extLst>
            </p:cNvPr>
            <p:cNvSpPr/>
            <p:nvPr/>
          </p:nvSpPr>
          <p:spPr>
            <a:xfrm>
              <a:off x="2435352" y="6096"/>
              <a:ext cx="1874520" cy="1965960"/>
            </a:xfrm>
            <a:custGeom>
              <a:avLst/>
              <a:gdLst/>
              <a:ahLst/>
              <a:cxnLst/>
              <a:rect l="0" t="0" r="0" b="0"/>
              <a:pathLst>
                <a:path w="1874520" h="1965960">
                  <a:moveTo>
                    <a:pt x="91440" y="0"/>
                  </a:moveTo>
                  <a:lnTo>
                    <a:pt x="1783080" y="0"/>
                  </a:lnTo>
                  <a:cubicBezTo>
                    <a:pt x="1833626" y="0"/>
                    <a:pt x="1874520" y="40894"/>
                    <a:pt x="1874520" y="91440"/>
                  </a:cubicBezTo>
                  <a:lnTo>
                    <a:pt x="1874520" y="1874520"/>
                  </a:lnTo>
                  <a:cubicBezTo>
                    <a:pt x="1874520" y="1925066"/>
                    <a:pt x="1833626" y="1965960"/>
                    <a:pt x="1783080" y="1965960"/>
                  </a:cubicBezTo>
                  <a:lnTo>
                    <a:pt x="91440" y="1965960"/>
                  </a:lnTo>
                  <a:cubicBezTo>
                    <a:pt x="40894" y="1965960"/>
                    <a:pt x="0" y="1925066"/>
                    <a:pt x="0" y="1874520"/>
                  </a:cubicBezTo>
                  <a:lnTo>
                    <a:pt x="0" y="91440"/>
                  </a:lnTo>
                  <a:cubicBezTo>
                    <a:pt x="0" y="40894"/>
                    <a:pt x="40894" y="0"/>
                    <a:pt x="91440" y="0"/>
                  </a:cubicBezTo>
                  <a:close/>
                </a:path>
              </a:pathLst>
            </a:custGeom>
            <a:ln w="0" cap="flat">
              <a:miter lim="127000"/>
            </a:ln>
          </p:spPr>
          <p:style>
            <a:lnRef idx="0">
              <a:srgbClr val="000000">
                <a:alpha val="0"/>
              </a:srgbClr>
            </a:lnRef>
            <a:fillRef idx="1">
              <a:srgbClr val="065A82"/>
            </a:fillRef>
            <a:effectRef idx="0">
              <a:scrgbClr r="0" g="0" b="0"/>
            </a:effectRef>
            <a:fontRef idx="none"/>
          </p:style>
          <p:txBody>
            <a:bodyPr/>
            <a:lstStyle/>
            <a:p>
              <a:endParaRPr lang="en-IN"/>
            </a:p>
          </p:txBody>
        </p:sp>
        <p:sp>
          <p:nvSpPr>
            <p:cNvPr id="18" name="Shape 125">
              <a:extLst>
                <a:ext uri="{FF2B5EF4-FFF2-40B4-BE49-F238E27FC236}">
                  <a16:creationId xmlns:a16="http://schemas.microsoft.com/office/drawing/2014/main" id="{FF0F981D-28CB-7222-6361-3F5E01C97CED}"/>
                </a:ext>
              </a:extLst>
            </p:cNvPr>
            <p:cNvSpPr/>
            <p:nvPr/>
          </p:nvSpPr>
          <p:spPr>
            <a:xfrm>
              <a:off x="3011424" y="368808"/>
              <a:ext cx="585216" cy="585216"/>
            </a:xfrm>
            <a:custGeom>
              <a:avLst/>
              <a:gdLst/>
              <a:ahLst/>
              <a:cxnLst/>
              <a:rect l="0" t="0" r="0" b="0"/>
              <a:pathLst>
                <a:path w="585216" h="585216">
                  <a:moveTo>
                    <a:pt x="292608" y="0"/>
                  </a:moveTo>
                  <a:cubicBezTo>
                    <a:pt x="454152" y="0"/>
                    <a:pt x="585216" y="131064"/>
                    <a:pt x="585216" y="292608"/>
                  </a:cubicBezTo>
                  <a:cubicBezTo>
                    <a:pt x="585216" y="454152"/>
                    <a:pt x="454152" y="585216"/>
                    <a:pt x="292608" y="585216"/>
                  </a:cubicBezTo>
                  <a:cubicBezTo>
                    <a:pt x="131064" y="585216"/>
                    <a:pt x="0" y="454152"/>
                    <a:pt x="0" y="292608"/>
                  </a:cubicBezTo>
                  <a:cubicBezTo>
                    <a:pt x="0" y="131064"/>
                    <a:pt x="131064" y="0"/>
                    <a:pt x="292608" y="0"/>
                  </a:cubicBezTo>
                  <a:close/>
                </a:path>
              </a:pathLst>
            </a:custGeom>
            <a:ln w="0" cap="flat">
              <a:miter lim="127000"/>
            </a:ln>
          </p:spPr>
          <p:style>
            <a:lnRef idx="0">
              <a:srgbClr val="000000">
                <a:alpha val="0"/>
              </a:srgbClr>
            </a:lnRef>
            <a:fillRef idx="1">
              <a:srgbClr val="FFFFFF">
                <a:alpha val="87843"/>
              </a:srgbClr>
            </a:fillRef>
            <a:effectRef idx="0">
              <a:scrgbClr r="0" g="0" b="0"/>
            </a:effectRef>
            <a:fontRef idx="none"/>
          </p:style>
          <p:txBody>
            <a:bodyPr/>
            <a:lstStyle/>
            <a:p>
              <a:endParaRPr lang="en-IN"/>
            </a:p>
          </p:txBody>
        </p:sp>
        <p:pic>
          <p:nvPicPr>
            <p:cNvPr id="19" name="Picture 18">
              <a:extLst>
                <a:ext uri="{FF2B5EF4-FFF2-40B4-BE49-F238E27FC236}">
                  <a16:creationId xmlns:a16="http://schemas.microsoft.com/office/drawing/2014/main" id="{6E55BCC3-1AD6-325D-66C8-C9CEB4B3ECE2}"/>
                </a:ext>
              </a:extLst>
            </p:cNvPr>
            <p:cNvPicPr/>
            <p:nvPr/>
          </p:nvPicPr>
          <p:blipFill>
            <a:blip r:embed="rId3"/>
            <a:stretch>
              <a:fillRect/>
            </a:stretch>
          </p:blipFill>
          <p:spPr>
            <a:xfrm>
              <a:off x="3130296" y="505968"/>
              <a:ext cx="347472" cy="347472"/>
            </a:xfrm>
            <a:prstGeom prst="rect">
              <a:avLst/>
            </a:prstGeom>
          </p:spPr>
        </p:pic>
        <p:sp>
          <p:nvSpPr>
            <p:cNvPr id="20" name="Rectangle 19">
              <a:extLst>
                <a:ext uri="{FF2B5EF4-FFF2-40B4-BE49-F238E27FC236}">
                  <a16:creationId xmlns:a16="http://schemas.microsoft.com/office/drawing/2014/main" id="{61F435E4-9DAB-36F6-7E53-F3E5B5442F71}"/>
                </a:ext>
              </a:extLst>
            </p:cNvPr>
            <p:cNvSpPr/>
            <p:nvPr/>
          </p:nvSpPr>
          <p:spPr>
            <a:xfrm>
              <a:off x="2781935" y="1154557"/>
              <a:ext cx="1577665" cy="222969"/>
            </a:xfrm>
            <a:prstGeom prst="rect">
              <a:avLst/>
            </a:prstGeom>
            <a:ln>
              <a:noFill/>
            </a:ln>
          </p:spPr>
          <p:txBody>
            <a:bodyPr vert="horz" lIns="0" tIns="0" rIns="0" bIns="0" rtlCol="0">
              <a:noAutofit/>
            </a:bodyPr>
            <a:lstStyle/>
            <a:p>
              <a:pPr>
                <a:lnSpc>
                  <a:spcPct val="107000"/>
                </a:lnSpc>
                <a:spcAft>
                  <a:spcPts val="800"/>
                </a:spcAft>
                <a:buNone/>
              </a:pPr>
              <a:r>
                <a:rPr lang="en-IN" sz="1300" b="1" kern="100">
                  <a:solidFill>
                    <a:srgbClr val="FFFFFF"/>
                  </a:solidFill>
                  <a:effectLst/>
                  <a:latin typeface="Calibri" panose="020F0502020204030204" pitchFamily="34" charset="0"/>
                  <a:ea typeface="Calibri" panose="020F0502020204030204" pitchFamily="34" charset="0"/>
                </a:rPr>
                <a:t>Docker Container</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21" name="Rectangle 20">
              <a:extLst>
                <a:ext uri="{FF2B5EF4-FFF2-40B4-BE49-F238E27FC236}">
                  <a16:creationId xmlns:a16="http://schemas.microsoft.com/office/drawing/2014/main" id="{6B6DD6CB-5423-1F1F-84E4-D65E979D3675}"/>
                </a:ext>
              </a:extLst>
            </p:cNvPr>
            <p:cNvSpPr/>
            <p:nvPr/>
          </p:nvSpPr>
          <p:spPr>
            <a:xfrm>
              <a:off x="2938907" y="1456080"/>
              <a:ext cx="1079808" cy="173833"/>
            </a:xfrm>
            <a:prstGeom prst="rect">
              <a:avLst/>
            </a:prstGeom>
            <a:ln>
              <a:noFill/>
            </a:ln>
          </p:spPr>
          <p:txBody>
            <a:bodyPr vert="horz" lIns="0" tIns="0" rIns="0" bIns="0" rtlCol="0">
              <a:noAutofit/>
            </a:bodyPr>
            <a:lstStyle/>
            <a:p>
              <a:pPr>
                <a:lnSpc>
                  <a:spcPct val="107000"/>
                </a:lnSpc>
                <a:spcAft>
                  <a:spcPts val="800"/>
                </a:spcAft>
                <a:buNone/>
              </a:pPr>
              <a:r>
                <a:rPr lang="en-IN" sz="1000" kern="100">
                  <a:solidFill>
                    <a:srgbClr val="D8E6EF"/>
                  </a:solidFill>
                  <a:effectLst/>
                  <a:latin typeface="Calibri" panose="020F0502020204030204" pitchFamily="34" charset="0"/>
                  <a:ea typeface="Calibri" panose="020F0502020204030204" pitchFamily="34" charset="0"/>
                </a:rPr>
                <a:t>Packages app + </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22" name="Rectangle 21">
              <a:extLst>
                <a:ext uri="{FF2B5EF4-FFF2-40B4-BE49-F238E27FC236}">
                  <a16:creationId xmlns:a16="http://schemas.microsoft.com/office/drawing/2014/main" id="{7620DB5E-2675-18C1-CED6-FB62FD425692}"/>
                </a:ext>
              </a:extLst>
            </p:cNvPr>
            <p:cNvSpPr/>
            <p:nvPr/>
          </p:nvSpPr>
          <p:spPr>
            <a:xfrm>
              <a:off x="2966339" y="1609090"/>
              <a:ext cx="965892" cy="173420"/>
            </a:xfrm>
            <a:prstGeom prst="rect">
              <a:avLst/>
            </a:prstGeom>
            <a:ln>
              <a:noFill/>
            </a:ln>
          </p:spPr>
          <p:txBody>
            <a:bodyPr vert="horz" lIns="0" tIns="0" rIns="0" bIns="0" rtlCol="0">
              <a:noAutofit/>
            </a:bodyPr>
            <a:lstStyle/>
            <a:p>
              <a:pPr>
                <a:lnSpc>
                  <a:spcPct val="107000"/>
                </a:lnSpc>
                <a:spcAft>
                  <a:spcPts val="800"/>
                </a:spcAft>
                <a:buNone/>
              </a:pPr>
              <a:r>
                <a:rPr lang="en-IN" sz="1000" kern="100">
                  <a:solidFill>
                    <a:srgbClr val="D8E6EF"/>
                  </a:solidFill>
                  <a:effectLst/>
                  <a:latin typeface="Calibri" panose="020F0502020204030204" pitchFamily="34" charset="0"/>
                  <a:ea typeface="Calibri" panose="020F0502020204030204" pitchFamily="34" charset="0"/>
                </a:rPr>
                <a:t>dependencies</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23" name="Shape 131">
              <a:extLst>
                <a:ext uri="{FF2B5EF4-FFF2-40B4-BE49-F238E27FC236}">
                  <a16:creationId xmlns:a16="http://schemas.microsoft.com/office/drawing/2014/main" id="{AA217735-7B72-4CA3-4337-2CDB68A93E53}"/>
                </a:ext>
              </a:extLst>
            </p:cNvPr>
            <p:cNvSpPr/>
            <p:nvPr/>
          </p:nvSpPr>
          <p:spPr>
            <a:xfrm>
              <a:off x="4392168" y="841248"/>
              <a:ext cx="256032" cy="237744"/>
            </a:xfrm>
            <a:custGeom>
              <a:avLst/>
              <a:gdLst/>
              <a:ahLst/>
              <a:cxnLst/>
              <a:rect l="0" t="0" r="0" b="0"/>
              <a:pathLst>
                <a:path w="256032" h="237744">
                  <a:moveTo>
                    <a:pt x="137160" y="0"/>
                  </a:moveTo>
                  <a:lnTo>
                    <a:pt x="256032" y="118872"/>
                  </a:lnTo>
                  <a:lnTo>
                    <a:pt x="137160" y="237744"/>
                  </a:lnTo>
                  <a:lnTo>
                    <a:pt x="137160" y="178308"/>
                  </a:lnTo>
                  <a:lnTo>
                    <a:pt x="0" y="178308"/>
                  </a:lnTo>
                  <a:lnTo>
                    <a:pt x="0" y="59436"/>
                  </a:lnTo>
                  <a:lnTo>
                    <a:pt x="137160" y="59436"/>
                  </a:lnTo>
                  <a:lnTo>
                    <a:pt x="137160" y="0"/>
                  </a:lnTo>
                  <a:close/>
                </a:path>
              </a:pathLst>
            </a:custGeom>
            <a:ln w="0" cap="flat">
              <a:miter lim="127000"/>
            </a:ln>
          </p:spPr>
          <p:style>
            <a:lnRef idx="0">
              <a:srgbClr val="000000">
                <a:alpha val="0"/>
              </a:srgbClr>
            </a:lnRef>
            <a:fillRef idx="1">
              <a:srgbClr val="9FB4C2"/>
            </a:fillRef>
            <a:effectRef idx="0">
              <a:scrgbClr r="0" g="0" b="0"/>
            </a:effectRef>
            <a:fontRef idx="none"/>
          </p:style>
          <p:txBody>
            <a:bodyPr/>
            <a:lstStyle/>
            <a:p>
              <a:endParaRPr lang="en-IN"/>
            </a:p>
          </p:txBody>
        </p:sp>
        <p:sp>
          <p:nvSpPr>
            <p:cNvPr id="24" name="Shape 132">
              <a:extLst>
                <a:ext uri="{FF2B5EF4-FFF2-40B4-BE49-F238E27FC236}">
                  <a16:creationId xmlns:a16="http://schemas.microsoft.com/office/drawing/2014/main" id="{E4AB60DC-A179-C72E-6FC0-F18EBF389DF5}"/>
                </a:ext>
              </a:extLst>
            </p:cNvPr>
            <p:cNvSpPr/>
            <p:nvPr/>
          </p:nvSpPr>
          <p:spPr>
            <a:xfrm>
              <a:off x="4733544" y="42672"/>
              <a:ext cx="1874520" cy="1965960"/>
            </a:xfrm>
            <a:custGeom>
              <a:avLst/>
              <a:gdLst/>
              <a:ahLst/>
              <a:cxnLst/>
              <a:rect l="0" t="0" r="0" b="0"/>
              <a:pathLst>
                <a:path w="1874520" h="1965960">
                  <a:moveTo>
                    <a:pt x="91440" y="0"/>
                  </a:moveTo>
                  <a:lnTo>
                    <a:pt x="1783080" y="0"/>
                  </a:lnTo>
                  <a:cubicBezTo>
                    <a:pt x="1833626" y="0"/>
                    <a:pt x="1874520" y="40894"/>
                    <a:pt x="1874520" y="91440"/>
                  </a:cubicBezTo>
                  <a:lnTo>
                    <a:pt x="1874520" y="1874520"/>
                  </a:lnTo>
                  <a:cubicBezTo>
                    <a:pt x="1874520" y="1925066"/>
                    <a:pt x="1833626" y="1965960"/>
                    <a:pt x="1783080" y="1965960"/>
                  </a:cubicBezTo>
                  <a:lnTo>
                    <a:pt x="91440" y="1965960"/>
                  </a:lnTo>
                  <a:cubicBezTo>
                    <a:pt x="40894" y="1965960"/>
                    <a:pt x="0" y="1925066"/>
                    <a:pt x="0" y="1874520"/>
                  </a:cubicBezTo>
                  <a:lnTo>
                    <a:pt x="0" y="91440"/>
                  </a:lnTo>
                  <a:cubicBezTo>
                    <a:pt x="0" y="40894"/>
                    <a:pt x="40894" y="0"/>
                    <a:pt x="91440" y="0"/>
                  </a:cubicBezTo>
                  <a:close/>
                </a:path>
              </a:pathLst>
            </a:custGeom>
            <a:ln w="0" cap="flat">
              <a:miter lim="127000"/>
            </a:ln>
          </p:spPr>
          <p:style>
            <a:lnRef idx="0">
              <a:srgbClr val="000000">
                <a:alpha val="0"/>
              </a:srgbClr>
            </a:lnRef>
            <a:fillRef idx="1">
              <a:srgbClr val="1C7293"/>
            </a:fillRef>
            <a:effectRef idx="0">
              <a:scrgbClr r="0" g="0" b="0"/>
            </a:effectRef>
            <a:fontRef idx="none"/>
          </p:style>
          <p:txBody>
            <a:bodyPr/>
            <a:lstStyle/>
            <a:p>
              <a:endParaRPr lang="en-IN"/>
            </a:p>
          </p:txBody>
        </p:sp>
        <p:sp>
          <p:nvSpPr>
            <p:cNvPr id="25" name="Shape 133">
              <a:extLst>
                <a:ext uri="{FF2B5EF4-FFF2-40B4-BE49-F238E27FC236}">
                  <a16:creationId xmlns:a16="http://schemas.microsoft.com/office/drawing/2014/main" id="{7BA0638E-AE57-68AA-B959-0030527BBE8D}"/>
                </a:ext>
              </a:extLst>
            </p:cNvPr>
            <p:cNvSpPr/>
            <p:nvPr/>
          </p:nvSpPr>
          <p:spPr>
            <a:xfrm>
              <a:off x="5370576" y="316992"/>
              <a:ext cx="585216" cy="585216"/>
            </a:xfrm>
            <a:custGeom>
              <a:avLst/>
              <a:gdLst/>
              <a:ahLst/>
              <a:cxnLst/>
              <a:rect l="0" t="0" r="0" b="0"/>
              <a:pathLst>
                <a:path w="585216" h="585216">
                  <a:moveTo>
                    <a:pt x="292608" y="0"/>
                  </a:moveTo>
                  <a:cubicBezTo>
                    <a:pt x="454152" y="0"/>
                    <a:pt x="585216" y="131064"/>
                    <a:pt x="585216" y="292608"/>
                  </a:cubicBezTo>
                  <a:cubicBezTo>
                    <a:pt x="585216" y="454152"/>
                    <a:pt x="454152" y="585216"/>
                    <a:pt x="292608" y="585216"/>
                  </a:cubicBezTo>
                  <a:cubicBezTo>
                    <a:pt x="131064" y="585216"/>
                    <a:pt x="0" y="454152"/>
                    <a:pt x="0" y="292608"/>
                  </a:cubicBezTo>
                  <a:cubicBezTo>
                    <a:pt x="0" y="131064"/>
                    <a:pt x="131064" y="0"/>
                    <a:pt x="292608" y="0"/>
                  </a:cubicBezTo>
                  <a:close/>
                </a:path>
              </a:pathLst>
            </a:custGeom>
            <a:ln w="0" cap="flat">
              <a:miter lim="127000"/>
            </a:ln>
          </p:spPr>
          <p:style>
            <a:lnRef idx="0">
              <a:srgbClr val="000000">
                <a:alpha val="0"/>
              </a:srgbClr>
            </a:lnRef>
            <a:fillRef idx="1">
              <a:srgbClr val="FFFFFF">
                <a:alpha val="87843"/>
              </a:srgbClr>
            </a:fillRef>
            <a:effectRef idx="0">
              <a:scrgbClr r="0" g="0" b="0"/>
            </a:effectRef>
            <a:fontRef idx="none"/>
          </p:style>
          <p:txBody>
            <a:bodyPr/>
            <a:lstStyle/>
            <a:p>
              <a:endParaRPr lang="en-IN"/>
            </a:p>
          </p:txBody>
        </p:sp>
        <p:pic>
          <p:nvPicPr>
            <p:cNvPr id="26" name="Picture 25">
              <a:extLst>
                <a:ext uri="{FF2B5EF4-FFF2-40B4-BE49-F238E27FC236}">
                  <a16:creationId xmlns:a16="http://schemas.microsoft.com/office/drawing/2014/main" id="{C838533A-F456-E7BD-CAFE-3355D3CC78F7}"/>
                </a:ext>
              </a:extLst>
            </p:cNvPr>
            <p:cNvPicPr/>
            <p:nvPr/>
          </p:nvPicPr>
          <p:blipFill>
            <a:blip r:embed="rId4"/>
            <a:stretch>
              <a:fillRect/>
            </a:stretch>
          </p:blipFill>
          <p:spPr>
            <a:xfrm>
              <a:off x="5489448" y="493776"/>
              <a:ext cx="347472" cy="347472"/>
            </a:xfrm>
            <a:prstGeom prst="rect">
              <a:avLst/>
            </a:prstGeom>
          </p:spPr>
        </p:pic>
        <p:sp>
          <p:nvSpPr>
            <p:cNvPr id="27" name="Rectangle 26">
              <a:extLst>
                <a:ext uri="{FF2B5EF4-FFF2-40B4-BE49-F238E27FC236}">
                  <a16:creationId xmlns:a16="http://schemas.microsoft.com/office/drawing/2014/main" id="{541D19BD-982A-4585-46BA-7C1B5E4EA5BB}"/>
                </a:ext>
              </a:extLst>
            </p:cNvPr>
            <p:cNvSpPr/>
            <p:nvPr/>
          </p:nvSpPr>
          <p:spPr>
            <a:xfrm>
              <a:off x="5046853" y="1175004"/>
              <a:ext cx="1722801" cy="222969"/>
            </a:xfrm>
            <a:prstGeom prst="rect">
              <a:avLst/>
            </a:prstGeom>
            <a:ln>
              <a:noFill/>
            </a:ln>
          </p:spPr>
          <p:txBody>
            <a:bodyPr vert="horz" lIns="0" tIns="0" rIns="0" bIns="0" rtlCol="0">
              <a:noAutofit/>
            </a:bodyPr>
            <a:lstStyle/>
            <a:p>
              <a:pPr>
                <a:lnSpc>
                  <a:spcPct val="107000"/>
                </a:lnSpc>
                <a:spcAft>
                  <a:spcPts val="800"/>
                </a:spcAft>
                <a:buNone/>
              </a:pPr>
              <a:r>
                <a:rPr lang="en-IN" sz="1300" b="1" kern="100">
                  <a:solidFill>
                    <a:srgbClr val="FFFFFF"/>
                  </a:solidFill>
                  <a:effectLst/>
                  <a:latin typeface="Calibri" panose="020F0502020204030204" pitchFamily="34" charset="0"/>
                  <a:ea typeface="Calibri" panose="020F0502020204030204" pitchFamily="34" charset="0"/>
                </a:rPr>
                <a:t>Kubernetes Cluster</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28" name="Rectangle 27">
              <a:extLst>
                <a:ext uri="{FF2B5EF4-FFF2-40B4-BE49-F238E27FC236}">
                  <a16:creationId xmlns:a16="http://schemas.microsoft.com/office/drawing/2014/main" id="{C039D843-C777-4054-93AF-7AA9BEC349E7}"/>
                </a:ext>
              </a:extLst>
            </p:cNvPr>
            <p:cNvSpPr/>
            <p:nvPr/>
          </p:nvSpPr>
          <p:spPr>
            <a:xfrm>
              <a:off x="5153533" y="1532509"/>
              <a:ext cx="1525031" cy="173420"/>
            </a:xfrm>
            <a:prstGeom prst="rect">
              <a:avLst/>
            </a:prstGeom>
            <a:ln>
              <a:noFill/>
            </a:ln>
          </p:spPr>
          <p:txBody>
            <a:bodyPr vert="horz" lIns="0" tIns="0" rIns="0" bIns="0" rtlCol="0">
              <a:noAutofit/>
            </a:bodyPr>
            <a:lstStyle/>
            <a:p>
              <a:pPr>
                <a:lnSpc>
                  <a:spcPct val="107000"/>
                </a:lnSpc>
                <a:spcAft>
                  <a:spcPts val="800"/>
                </a:spcAft>
                <a:buNone/>
              </a:pPr>
              <a:r>
                <a:rPr lang="en-IN" sz="1000" kern="100">
                  <a:solidFill>
                    <a:srgbClr val="D8E6EF"/>
                  </a:solidFill>
                  <a:effectLst/>
                  <a:latin typeface="Calibri" panose="020F0502020204030204" pitchFamily="34" charset="0"/>
                  <a:ea typeface="Calibri" panose="020F0502020204030204" pitchFamily="34" charset="0"/>
                </a:rPr>
                <a:t>Orchestrates &amp; scales </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29" name="Rectangle 28">
              <a:extLst>
                <a:ext uri="{FF2B5EF4-FFF2-40B4-BE49-F238E27FC236}">
                  <a16:creationId xmlns:a16="http://schemas.microsoft.com/office/drawing/2014/main" id="{787A77F0-23CB-DD80-4715-4B2B0D8F0DFD}"/>
                </a:ext>
              </a:extLst>
            </p:cNvPr>
            <p:cNvSpPr/>
            <p:nvPr/>
          </p:nvSpPr>
          <p:spPr>
            <a:xfrm>
              <a:off x="5436997" y="1684909"/>
              <a:ext cx="734167" cy="173420"/>
            </a:xfrm>
            <a:prstGeom prst="rect">
              <a:avLst/>
            </a:prstGeom>
            <a:ln>
              <a:noFill/>
            </a:ln>
          </p:spPr>
          <p:txBody>
            <a:bodyPr vert="horz" lIns="0" tIns="0" rIns="0" bIns="0" rtlCol="0">
              <a:noAutofit/>
            </a:bodyPr>
            <a:lstStyle/>
            <a:p>
              <a:pPr>
                <a:lnSpc>
                  <a:spcPct val="107000"/>
                </a:lnSpc>
                <a:spcAft>
                  <a:spcPts val="800"/>
                </a:spcAft>
                <a:buNone/>
              </a:pPr>
              <a:r>
                <a:rPr lang="en-IN" sz="1000" kern="100">
                  <a:solidFill>
                    <a:srgbClr val="D8E6EF"/>
                  </a:solidFill>
                  <a:effectLst/>
                  <a:latin typeface="Calibri" panose="020F0502020204030204" pitchFamily="34" charset="0"/>
                  <a:ea typeface="Calibri" panose="020F0502020204030204" pitchFamily="34" charset="0"/>
                </a:rPr>
                <a:t>containers</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30" name="Shape 139">
              <a:extLst>
                <a:ext uri="{FF2B5EF4-FFF2-40B4-BE49-F238E27FC236}">
                  <a16:creationId xmlns:a16="http://schemas.microsoft.com/office/drawing/2014/main" id="{0C8FFA90-10A0-8554-D5B6-F9778B22F152}"/>
                </a:ext>
              </a:extLst>
            </p:cNvPr>
            <p:cNvSpPr/>
            <p:nvPr/>
          </p:nvSpPr>
          <p:spPr>
            <a:xfrm>
              <a:off x="6669024" y="850392"/>
              <a:ext cx="256032" cy="237744"/>
            </a:xfrm>
            <a:custGeom>
              <a:avLst/>
              <a:gdLst/>
              <a:ahLst/>
              <a:cxnLst/>
              <a:rect l="0" t="0" r="0" b="0"/>
              <a:pathLst>
                <a:path w="256032" h="237744">
                  <a:moveTo>
                    <a:pt x="137161" y="0"/>
                  </a:moveTo>
                  <a:lnTo>
                    <a:pt x="256032" y="118872"/>
                  </a:lnTo>
                  <a:lnTo>
                    <a:pt x="137161" y="237744"/>
                  </a:lnTo>
                  <a:lnTo>
                    <a:pt x="137161" y="178308"/>
                  </a:lnTo>
                  <a:lnTo>
                    <a:pt x="0" y="178308"/>
                  </a:lnTo>
                  <a:lnTo>
                    <a:pt x="0" y="59436"/>
                  </a:lnTo>
                  <a:lnTo>
                    <a:pt x="137161" y="59436"/>
                  </a:lnTo>
                  <a:lnTo>
                    <a:pt x="137161" y="0"/>
                  </a:lnTo>
                  <a:close/>
                </a:path>
              </a:pathLst>
            </a:custGeom>
            <a:ln w="0" cap="flat">
              <a:miter lim="127000"/>
            </a:ln>
          </p:spPr>
          <p:style>
            <a:lnRef idx="0">
              <a:srgbClr val="000000">
                <a:alpha val="0"/>
              </a:srgbClr>
            </a:lnRef>
            <a:fillRef idx="1">
              <a:srgbClr val="9FB4C2"/>
            </a:fillRef>
            <a:effectRef idx="0">
              <a:scrgbClr r="0" g="0" b="0"/>
            </a:effectRef>
            <a:fontRef idx="none"/>
          </p:style>
          <p:txBody>
            <a:bodyPr/>
            <a:lstStyle/>
            <a:p>
              <a:endParaRPr lang="en-IN"/>
            </a:p>
          </p:txBody>
        </p:sp>
        <p:sp>
          <p:nvSpPr>
            <p:cNvPr id="31" name="Shape 140">
              <a:extLst>
                <a:ext uri="{FF2B5EF4-FFF2-40B4-BE49-F238E27FC236}">
                  <a16:creationId xmlns:a16="http://schemas.microsoft.com/office/drawing/2014/main" id="{F914F610-C565-7EF2-BECF-84619FB3715F}"/>
                </a:ext>
              </a:extLst>
            </p:cNvPr>
            <p:cNvSpPr/>
            <p:nvPr/>
          </p:nvSpPr>
          <p:spPr>
            <a:xfrm>
              <a:off x="7043928" y="67056"/>
              <a:ext cx="1874520" cy="1965960"/>
            </a:xfrm>
            <a:custGeom>
              <a:avLst/>
              <a:gdLst/>
              <a:ahLst/>
              <a:cxnLst/>
              <a:rect l="0" t="0" r="0" b="0"/>
              <a:pathLst>
                <a:path w="1874520" h="1965960">
                  <a:moveTo>
                    <a:pt x="91440" y="0"/>
                  </a:moveTo>
                  <a:lnTo>
                    <a:pt x="1783080" y="0"/>
                  </a:lnTo>
                  <a:cubicBezTo>
                    <a:pt x="1833626" y="0"/>
                    <a:pt x="1874520" y="40894"/>
                    <a:pt x="1874520" y="91440"/>
                  </a:cubicBezTo>
                  <a:lnTo>
                    <a:pt x="1874520" y="1874520"/>
                  </a:lnTo>
                  <a:cubicBezTo>
                    <a:pt x="1874520" y="1925066"/>
                    <a:pt x="1833626" y="1965960"/>
                    <a:pt x="1783080" y="1965960"/>
                  </a:cubicBezTo>
                  <a:lnTo>
                    <a:pt x="91440" y="1965960"/>
                  </a:lnTo>
                  <a:cubicBezTo>
                    <a:pt x="40894" y="1965960"/>
                    <a:pt x="0" y="1925066"/>
                    <a:pt x="0" y="1874520"/>
                  </a:cubicBezTo>
                  <a:lnTo>
                    <a:pt x="0" y="91440"/>
                  </a:lnTo>
                  <a:cubicBezTo>
                    <a:pt x="0" y="40894"/>
                    <a:pt x="40894" y="0"/>
                    <a:pt x="91440" y="0"/>
                  </a:cubicBezTo>
                  <a:close/>
                </a:path>
              </a:pathLst>
            </a:custGeom>
            <a:ln w="0" cap="flat">
              <a:miter lim="127000"/>
            </a:ln>
          </p:spPr>
          <p:style>
            <a:lnRef idx="0">
              <a:srgbClr val="000000">
                <a:alpha val="0"/>
              </a:srgbClr>
            </a:lnRef>
            <a:fillRef idx="1">
              <a:srgbClr val="065A82"/>
            </a:fillRef>
            <a:effectRef idx="0">
              <a:scrgbClr r="0" g="0" b="0"/>
            </a:effectRef>
            <a:fontRef idx="none"/>
          </p:style>
          <p:txBody>
            <a:bodyPr/>
            <a:lstStyle/>
            <a:p>
              <a:endParaRPr lang="en-IN"/>
            </a:p>
          </p:txBody>
        </p:sp>
        <p:sp>
          <p:nvSpPr>
            <p:cNvPr id="32" name="Shape 141">
              <a:extLst>
                <a:ext uri="{FF2B5EF4-FFF2-40B4-BE49-F238E27FC236}">
                  <a16:creationId xmlns:a16="http://schemas.microsoft.com/office/drawing/2014/main" id="{91DF98E1-0992-5B07-5316-81EF08065857}"/>
                </a:ext>
              </a:extLst>
            </p:cNvPr>
            <p:cNvSpPr/>
            <p:nvPr/>
          </p:nvSpPr>
          <p:spPr>
            <a:xfrm>
              <a:off x="7635240" y="371856"/>
              <a:ext cx="585216" cy="585216"/>
            </a:xfrm>
            <a:custGeom>
              <a:avLst/>
              <a:gdLst/>
              <a:ahLst/>
              <a:cxnLst/>
              <a:rect l="0" t="0" r="0" b="0"/>
              <a:pathLst>
                <a:path w="585216" h="585216">
                  <a:moveTo>
                    <a:pt x="292608" y="0"/>
                  </a:moveTo>
                  <a:cubicBezTo>
                    <a:pt x="454152" y="0"/>
                    <a:pt x="585216" y="131064"/>
                    <a:pt x="585216" y="292608"/>
                  </a:cubicBezTo>
                  <a:cubicBezTo>
                    <a:pt x="585216" y="454152"/>
                    <a:pt x="454152" y="585216"/>
                    <a:pt x="292608" y="585216"/>
                  </a:cubicBezTo>
                  <a:cubicBezTo>
                    <a:pt x="131064" y="585216"/>
                    <a:pt x="0" y="454152"/>
                    <a:pt x="0" y="292608"/>
                  </a:cubicBezTo>
                  <a:cubicBezTo>
                    <a:pt x="0" y="131064"/>
                    <a:pt x="131064" y="0"/>
                    <a:pt x="292608" y="0"/>
                  </a:cubicBezTo>
                  <a:close/>
                </a:path>
              </a:pathLst>
            </a:custGeom>
            <a:ln w="0" cap="flat">
              <a:miter lim="127000"/>
            </a:ln>
          </p:spPr>
          <p:style>
            <a:lnRef idx="0">
              <a:srgbClr val="000000">
                <a:alpha val="0"/>
              </a:srgbClr>
            </a:lnRef>
            <a:fillRef idx="1">
              <a:srgbClr val="FFFFFF">
                <a:alpha val="87843"/>
              </a:srgbClr>
            </a:fillRef>
            <a:effectRef idx="0">
              <a:scrgbClr r="0" g="0" b="0"/>
            </a:effectRef>
            <a:fontRef idx="none"/>
          </p:style>
          <p:txBody>
            <a:bodyPr/>
            <a:lstStyle/>
            <a:p>
              <a:endParaRPr lang="en-IN"/>
            </a:p>
          </p:txBody>
        </p:sp>
        <p:pic>
          <p:nvPicPr>
            <p:cNvPr id="33" name="Picture 32">
              <a:extLst>
                <a:ext uri="{FF2B5EF4-FFF2-40B4-BE49-F238E27FC236}">
                  <a16:creationId xmlns:a16="http://schemas.microsoft.com/office/drawing/2014/main" id="{010FCFAE-A16A-AACF-0240-0E01AEEA8C7B}"/>
                </a:ext>
              </a:extLst>
            </p:cNvPr>
            <p:cNvPicPr/>
            <p:nvPr/>
          </p:nvPicPr>
          <p:blipFill>
            <a:blip r:embed="rId5"/>
            <a:stretch>
              <a:fillRect/>
            </a:stretch>
          </p:blipFill>
          <p:spPr>
            <a:xfrm>
              <a:off x="7693152" y="502920"/>
              <a:ext cx="347472" cy="347472"/>
            </a:xfrm>
            <a:prstGeom prst="rect">
              <a:avLst/>
            </a:prstGeom>
          </p:spPr>
        </p:pic>
        <p:sp>
          <p:nvSpPr>
            <p:cNvPr id="34" name="Rectangle 33">
              <a:extLst>
                <a:ext uri="{FF2B5EF4-FFF2-40B4-BE49-F238E27FC236}">
                  <a16:creationId xmlns:a16="http://schemas.microsoft.com/office/drawing/2014/main" id="{56976E42-2D4D-E310-51D8-11FAE60ECD08}"/>
                </a:ext>
              </a:extLst>
            </p:cNvPr>
            <p:cNvSpPr/>
            <p:nvPr/>
          </p:nvSpPr>
          <p:spPr>
            <a:xfrm>
              <a:off x="7406386" y="1139063"/>
              <a:ext cx="1364888" cy="222969"/>
            </a:xfrm>
            <a:prstGeom prst="rect">
              <a:avLst/>
            </a:prstGeom>
            <a:ln>
              <a:noFill/>
            </a:ln>
          </p:spPr>
          <p:txBody>
            <a:bodyPr vert="horz" lIns="0" tIns="0" rIns="0" bIns="0" rtlCol="0">
              <a:noAutofit/>
            </a:bodyPr>
            <a:lstStyle/>
            <a:p>
              <a:pPr>
                <a:lnSpc>
                  <a:spcPct val="107000"/>
                </a:lnSpc>
                <a:spcAft>
                  <a:spcPts val="800"/>
                </a:spcAft>
                <a:buNone/>
              </a:pPr>
              <a:r>
                <a:rPr lang="en-IN" sz="1300" b="1" kern="100">
                  <a:solidFill>
                    <a:srgbClr val="FFFFFF"/>
                  </a:solidFill>
                  <a:effectLst/>
                  <a:latin typeface="Calibri" panose="020F0502020204030204" pitchFamily="34" charset="0"/>
                  <a:ea typeface="Calibri" panose="020F0502020204030204" pitchFamily="34" charset="0"/>
                </a:rPr>
                <a:t>Cloud Platform</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35" name="Rectangle 34">
              <a:extLst>
                <a:ext uri="{FF2B5EF4-FFF2-40B4-BE49-F238E27FC236}">
                  <a16:creationId xmlns:a16="http://schemas.microsoft.com/office/drawing/2014/main" id="{91E8FF69-BE83-BDA2-2AE1-B8DC7BF2AAE8}"/>
                </a:ext>
              </a:extLst>
            </p:cNvPr>
            <p:cNvSpPr/>
            <p:nvPr/>
          </p:nvSpPr>
          <p:spPr>
            <a:xfrm>
              <a:off x="7487412" y="1482877"/>
              <a:ext cx="1420459" cy="173833"/>
            </a:xfrm>
            <a:prstGeom prst="rect">
              <a:avLst/>
            </a:prstGeom>
            <a:ln>
              <a:noFill/>
            </a:ln>
          </p:spPr>
          <p:txBody>
            <a:bodyPr vert="horz" lIns="0" tIns="0" rIns="0" bIns="0" rtlCol="0">
              <a:noAutofit/>
            </a:bodyPr>
            <a:lstStyle/>
            <a:p>
              <a:pPr>
                <a:lnSpc>
                  <a:spcPct val="107000"/>
                </a:lnSpc>
                <a:spcAft>
                  <a:spcPts val="800"/>
                </a:spcAft>
                <a:buNone/>
              </a:pPr>
              <a:r>
                <a:rPr lang="en-IN" sz="1000" kern="100">
                  <a:solidFill>
                    <a:srgbClr val="D8E6EF"/>
                  </a:solidFill>
                  <a:effectLst/>
                  <a:latin typeface="Calibri" panose="020F0502020204030204" pitchFamily="34" charset="0"/>
                  <a:ea typeface="Calibri" panose="020F0502020204030204" pitchFamily="34" charset="0"/>
                </a:rPr>
                <a:t>Hosts infrastructure </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36" name="Rectangle 35">
              <a:extLst>
                <a:ext uri="{FF2B5EF4-FFF2-40B4-BE49-F238E27FC236}">
                  <a16:creationId xmlns:a16="http://schemas.microsoft.com/office/drawing/2014/main" id="{257FCBE3-F917-95FB-E378-198160E9D74E}"/>
                </a:ext>
              </a:extLst>
            </p:cNvPr>
            <p:cNvSpPr/>
            <p:nvPr/>
          </p:nvSpPr>
          <p:spPr>
            <a:xfrm>
              <a:off x="7536181" y="1635887"/>
              <a:ext cx="51590" cy="173420"/>
            </a:xfrm>
            <a:prstGeom prst="rect">
              <a:avLst/>
            </a:prstGeom>
            <a:ln>
              <a:noFill/>
            </a:ln>
          </p:spPr>
          <p:txBody>
            <a:bodyPr vert="horz" lIns="0" tIns="0" rIns="0" bIns="0" rtlCol="0">
              <a:noAutofit/>
            </a:bodyPr>
            <a:lstStyle/>
            <a:p>
              <a:pPr>
                <a:lnSpc>
                  <a:spcPct val="107000"/>
                </a:lnSpc>
                <a:spcAft>
                  <a:spcPts val="800"/>
                </a:spcAft>
                <a:buNone/>
              </a:pPr>
              <a:r>
                <a:rPr lang="en-IN" sz="1000" kern="100">
                  <a:solidFill>
                    <a:srgbClr val="D8E6EF"/>
                  </a:solidFill>
                  <a:effectLst/>
                  <a:latin typeface="Calibri" panose="020F0502020204030204" pitchFamily="34" charset="0"/>
                  <a:ea typeface="Calibri" panose="020F0502020204030204" pitchFamily="34" charset="0"/>
                </a:rPr>
                <a:t>(</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37" name="Rectangle 36">
              <a:extLst>
                <a:ext uri="{FF2B5EF4-FFF2-40B4-BE49-F238E27FC236}">
                  <a16:creationId xmlns:a16="http://schemas.microsoft.com/office/drawing/2014/main" id="{F7FF9379-771B-7960-EB1F-4A1A2C72F6EA}"/>
                </a:ext>
              </a:extLst>
            </p:cNvPr>
            <p:cNvSpPr/>
            <p:nvPr/>
          </p:nvSpPr>
          <p:spPr>
            <a:xfrm>
              <a:off x="7575738" y="1635887"/>
              <a:ext cx="1141431" cy="173420"/>
            </a:xfrm>
            <a:prstGeom prst="rect">
              <a:avLst/>
            </a:prstGeom>
            <a:ln>
              <a:noFill/>
            </a:ln>
          </p:spPr>
          <p:txBody>
            <a:bodyPr vert="horz" lIns="0" tIns="0" rIns="0" bIns="0" rtlCol="0">
              <a:noAutofit/>
            </a:bodyPr>
            <a:lstStyle/>
            <a:p>
              <a:pPr>
                <a:lnSpc>
                  <a:spcPct val="107000"/>
                </a:lnSpc>
                <a:spcAft>
                  <a:spcPts val="800"/>
                </a:spcAft>
                <a:buNone/>
              </a:pPr>
              <a:r>
                <a:rPr lang="en-IN" sz="1000" kern="100">
                  <a:solidFill>
                    <a:srgbClr val="D8E6EF"/>
                  </a:solidFill>
                  <a:effectLst/>
                  <a:latin typeface="Calibri" panose="020F0502020204030204" pitchFamily="34" charset="0"/>
                  <a:ea typeface="Calibri" panose="020F0502020204030204" pitchFamily="34" charset="0"/>
                </a:rPr>
                <a:t>AWS/Azure/GCP</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38" name="Rectangle 37">
              <a:extLst>
                <a:ext uri="{FF2B5EF4-FFF2-40B4-BE49-F238E27FC236}">
                  <a16:creationId xmlns:a16="http://schemas.microsoft.com/office/drawing/2014/main" id="{C3991A5C-262A-7663-6D68-A10EF1DEB52B}"/>
                </a:ext>
              </a:extLst>
            </p:cNvPr>
            <p:cNvSpPr/>
            <p:nvPr/>
          </p:nvSpPr>
          <p:spPr>
            <a:xfrm>
              <a:off x="8434725" y="1635887"/>
              <a:ext cx="51590" cy="173420"/>
            </a:xfrm>
            <a:prstGeom prst="rect">
              <a:avLst/>
            </a:prstGeom>
            <a:ln>
              <a:noFill/>
            </a:ln>
          </p:spPr>
          <p:txBody>
            <a:bodyPr vert="horz" lIns="0" tIns="0" rIns="0" bIns="0" rtlCol="0">
              <a:noAutofit/>
            </a:bodyPr>
            <a:lstStyle/>
            <a:p>
              <a:pPr>
                <a:lnSpc>
                  <a:spcPct val="107000"/>
                </a:lnSpc>
                <a:spcAft>
                  <a:spcPts val="800"/>
                </a:spcAft>
                <a:buNone/>
              </a:pPr>
              <a:r>
                <a:rPr lang="en-IN" sz="1000" kern="100">
                  <a:solidFill>
                    <a:srgbClr val="D8E6EF"/>
                  </a:solidFill>
                  <a:effectLst/>
                  <a:latin typeface="Calibri" panose="020F0502020204030204" pitchFamily="34" charset="0"/>
                  <a:ea typeface="Calibri" panose="020F0502020204030204" pitchFamily="34" charset="0"/>
                </a:rPr>
                <a:t>)</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39" name="Shape 147">
              <a:extLst>
                <a:ext uri="{FF2B5EF4-FFF2-40B4-BE49-F238E27FC236}">
                  <a16:creationId xmlns:a16="http://schemas.microsoft.com/office/drawing/2014/main" id="{5EA7AFAB-B3B8-96BD-3355-ABCD08602400}"/>
                </a:ext>
              </a:extLst>
            </p:cNvPr>
            <p:cNvSpPr/>
            <p:nvPr/>
          </p:nvSpPr>
          <p:spPr>
            <a:xfrm>
              <a:off x="8964168" y="954024"/>
              <a:ext cx="256032" cy="237744"/>
            </a:xfrm>
            <a:custGeom>
              <a:avLst/>
              <a:gdLst/>
              <a:ahLst/>
              <a:cxnLst/>
              <a:rect l="0" t="0" r="0" b="0"/>
              <a:pathLst>
                <a:path w="256032" h="237744">
                  <a:moveTo>
                    <a:pt x="137160" y="0"/>
                  </a:moveTo>
                  <a:lnTo>
                    <a:pt x="256032" y="118872"/>
                  </a:lnTo>
                  <a:lnTo>
                    <a:pt x="137160" y="237744"/>
                  </a:lnTo>
                  <a:lnTo>
                    <a:pt x="137160" y="178308"/>
                  </a:lnTo>
                  <a:lnTo>
                    <a:pt x="0" y="178308"/>
                  </a:lnTo>
                  <a:lnTo>
                    <a:pt x="0" y="59436"/>
                  </a:lnTo>
                  <a:lnTo>
                    <a:pt x="137160" y="59436"/>
                  </a:lnTo>
                  <a:lnTo>
                    <a:pt x="137160" y="0"/>
                  </a:lnTo>
                  <a:close/>
                </a:path>
              </a:pathLst>
            </a:custGeom>
            <a:ln w="0" cap="flat">
              <a:miter lim="127000"/>
            </a:ln>
          </p:spPr>
          <p:style>
            <a:lnRef idx="0">
              <a:srgbClr val="000000">
                <a:alpha val="0"/>
              </a:srgbClr>
            </a:lnRef>
            <a:fillRef idx="1">
              <a:srgbClr val="9FB4C2"/>
            </a:fillRef>
            <a:effectRef idx="0">
              <a:scrgbClr r="0" g="0" b="0"/>
            </a:effectRef>
            <a:fontRef idx="none"/>
          </p:style>
          <p:txBody>
            <a:bodyPr/>
            <a:lstStyle/>
            <a:p>
              <a:endParaRPr lang="en-IN"/>
            </a:p>
          </p:txBody>
        </p:sp>
        <p:sp>
          <p:nvSpPr>
            <p:cNvPr id="40" name="Shape 148">
              <a:extLst>
                <a:ext uri="{FF2B5EF4-FFF2-40B4-BE49-F238E27FC236}">
                  <a16:creationId xmlns:a16="http://schemas.microsoft.com/office/drawing/2014/main" id="{089930CC-3AB3-B38F-0513-46A95F50B2B8}"/>
                </a:ext>
              </a:extLst>
            </p:cNvPr>
            <p:cNvSpPr/>
            <p:nvPr/>
          </p:nvSpPr>
          <p:spPr>
            <a:xfrm>
              <a:off x="9372600" y="42672"/>
              <a:ext cx="1874521" cy="1965960"/>
            </a:xfrm>
            <a:custGeom>
              <a:avLst/>
              <a:gdLst/>
              <a:ahLst/>
              <a:cxnLst/>
              <a:rect l="0" t="0" r="0" b="0"/>
              <a:pathLst>
                <a:path w="1874521" h="1965960">
                  <a:moveTo>
                    <a:pt x="91440" y="0"/>
                  </a:moveTo>
                  <a:lnTo>
                    <a:pt x="1783080" y="0"/>
                  </a:lnTo>
                  <a:cubicBezTo>
                    <a:pt x="1833626" y="0"/>
                    <a:pt x="1874521" y="40894"/>
                    <a:pt x="1874521" y="91440"/>
                  </a:cubicBezTo>
                  <a:lnTo>
                    <a:pt x="1874521" y="1874520"/>
                  </a:lnTo>
                  <a:cubicBezTo>
                    <a:pt x="1874521" y="1925066"/>
                    <a:pt x="1833626" y="1965960"/>
                    <a:pt x="1783080" y="1965960"/>
                  </a:cubicBezTo>
                  <a:lnTo>
                    <a:pt x="91440" y="1965960"/>
                  </a:lnTo>
                  <a:cubicBezTo>
                    <a:pt x="40894" y="1965960"/>
                    <a:pt x="0" y="1925066"/>
                    <a:pt x="0" y="1874520"/>
                  </a:cubicBezTo>
                  <a:lnTo>
                    <a:pt x="0" y="91440"/>
                  </a:lnTo>
                  <a:cubicBezTo>
                    <a:pt x="0" y="40894"/>
                    <a:pt x="40894" y="0"/>
                    <a:pt x="91440" y="0"/>
                  </a:cubicBezTo>
                  <a:close/>
                </a:path>
              </a:pathLst>
            </a:custGeom>
            <a:ln w="0" cap="flat">
              <a:miter lim="127000"/>
            </a:ln>
          </p:spPr>
          <p:style>
            <a:lnRef idx="0">
              <a:srgbClr val="000000">
                <a:alpha val="0"/>
              </a:srgbClr>
            </a:lnRef>
            <a:fillRef idx="1">
              <a:srgbClr val="21295C"/>
            </a:fillRef>
            <a:effectRef idx="0">
              <a:scrgbClr r="0" g="0" b="0"/>
            </a:effectRef>
            <a:fontRef idx="none"/>
          </p:style>
          <p:txBody>
            <a:bodyPr/>
            <a:lstStyle/>
            <a:p>
              <a:endParaRPr lang="en-IN"/>
            </a:p>
          </p:txBody>
        </p:sp>
        <p:sp>
          <p:nvSpPr>
            <p:cNvPr id="41" name="Shape 149">
              <a:extLst>
                <a:ext uri="{FF2B5EF4-FFF2-40B4-BE49-F238E27FC236}">
                  <a16:creationId xmlns:a16="http://schemas.microsoft.com/office/drawing/2014/main" id="{27F4FAD1-9F37-108B-8B5D-D95E2728EC29}"/>
                </a:ext>
              </a:extLst>
            </p:cNvPr>
            <p:cNvSpPr/>
            <p:nvPr/>
          </p:nvSpPr>
          <p:spPr>
            <a:xfrm>
              <a:off x="9902952" y="505968"/>
              <a:ext cx="585216" cy="585216"/>
            </a:xfrm>
            <a:custGeom>
              <a:avLst/>
              <a:gdLst/>
              <a:ahLst/>
              <a:cxnLst/>
              <a:rect l="0" t="0" r="0" b="0"/>
              <a:pathLst>
                <a:path w="585216" h="585216">
                  <a:moveTo>
                    <a:pt x="292608" y="0"/>
                  </a:moveTo>
                  <a:cubicBezTo>
                    <a:pt x="454152" y="0"/>
                    <a:pt x="585216" y="131064"/>
                    <a:pt x="585216" y="292608"/>
                  </a:cubicBezTo>
                  <a:cubicBezTo>
                    <a:pt x="585216" y="454152"/>
                    <a:pt x="454152" y="585216"/>
                    <a:pt x="292608" y="585216"/>
                  </a:cubicBezTo>
                  <a:cubicBezTo>
                    <a:pt x="131064" y="585216"/>
                    <a:pt x="0" y="454152"/>
                    <a:pt x="0" y="292608"/>
                  </a:cubicBezTo>
                  <a:cubicBezTo>
                    <a:pt x="0" y="131064"/>
                    <a:pt x="131064" y="0"/>
                    <a:pt x="292608" y="0"/>
                  </a:cubicBezTo>
                  <a:close/>
                </a:path>
              </a:pathLst>
            </a:custGeom>
            <a:ln w="0" cap="flat">
              <a:miter lim="127000"/>
            </a:ln>
          </p:spPr>
          <p:style>
            <a:lnRef idx="0">
              <a:srgbClr val="000000">
                <a:alpha val="0"/>
              </a:srgbClr>
            </a:lnRef>
            <a:fillRef idx="1">
              <a:srgbClr val="FFFFFF">
                <a:alpha val="87843"/>
              </a:srgbClr>
            </a:fillRef>
            <a:effectRef idx="0">
              <a:scrgbClr r="0" g="0" b="0"/>
            </a:effectRef>
            <a:fontRef idx="none"/>
          </p:style>
          <p:txBody>
            <a:bodyPr/>
            <a:lstStyle/>
            <a:p>
              <a:endParaRPr lang="en-IN"/>
            </a:p>
          </p:txBody>
        </p:sp>
        <p:pic>
          <p:nvPicPr>
            <p:cNvPr id="42" name="Picture 41">
              <a:extLst>
                <a:ext uri="{FF2B5EF4-FFF2-40B4-BE49-F238E27FC236}">
                  <a16:creationId xmlns:a16="http://schemas.microsoft.com/office/drawing/2014/main" id="{C4363AB9-24C8-25C8-DF16-68131D94A14D}"/>
                </a:ext>
              </a:extLst>
            </p:cNvPr>
            <p:cNvPicPr/>
            <p:nvPr/>
          </p:nvPicPr>
          <p:blipFill>
            <a:blip r:embed="rId6"/>
            <a:stretch>
              <a:fillRect/>
            </a:stretch>
          </p:blipFill>
          <p:spPr>
            <a:xfrm>
              <a:off x="10003451" y="612647"/>
              <a:ext cx="347472" cy="347472"/>
            </a:xfrm>
            <a:prstGeom prst="rect">
              <a:avLst/>
            </a:prstGeom>
          </p:spPr>
        </p:pic>
        <p:sp>
          <p:nvSpPr>
            <p:cNvPr id="43" name="Rectangle 42">
              <a:extLst>
                <a:ext uri="{FF2B5EF4-FFF2-40B4-BE49-F238E27FC236}">
                  <a16:creationId xmlns:a16="http://schemas.microsoft.com/office/drawing/2014/main" id="{DD47B742-1CFC-A5C7-ADFE-D78F88A38BAC}"/>
                </a:ext>
              </a:extLst>
            </p:cNvPr>
            <p:cNvSpPr/>
            <p:nvPr/>
          </p:nvSpPr>
          <p:spPr>
            <a:xfrm>
              <a:off x="9892285" y="1294130"/>
              <a:ext cx="893361" cy="222969"/>
            </a:xfrm>
            <a:prstGeom prst="rect">
              <a:avLst/>
            </a:prstGeom>
            <a:ln>
              <a:noFill/>
            </a:ln>
          </p:spPr>
          <p:txBody>
            <a:bodyPr vert="horz" lIns="0" tIns="0" rIns="0" bIns="0" rtlCol="0">
              <a:noAutofit/>
            </a:bodyPr>
            <a:lstStyle/>
            <a:p>
              <a:pPr>
                <a:lnSpc>
                  <a:spcPct val="107000"/>
                </a:lnSpc>
                <a:spcAft>
                  <a:spcPts val="800"/>
                </a:spcAft>
                <a:buNone/>
              </a:pPr>
              <a:r>
                <a:rPr lang="en-IN" sz="1300" b="1" kern="100">
                  <a:solidFill>
                    <a:srgbClr val="FFFFFF"/>
                  </a:solidFill>
                  <a:effectLst/>
                  <a:latin typeface="Calibri" panose="020F0502020204030204" pitchFamily="34" charset="0"/>
                  <a:ea typeface="Calibri" panose="020F0502020204030204" pitchFamily="34" charset="0"/>
                </a:rPr>
                <a:t>End Users</a:t>
              </a:r>
              <a:endParaRPr lang="en-IN" sz="1100" kern="100">
                <a:solidFill>
                  <a:srgbClr val="000000"/>
                </a:solidFill>
                <a:effectLst/>
                <a:latin typeface="Calibri" panose="020F0502020204030204" pitchFamily="34" charset="0"/>
                <a:ea typeface="Calibri" panose="020F0502020204030204" pitchFamily="34" charset="0"/>
              </a:endParaRPr>
            </a:p>
          </p:txBody>
        </p:sp>
        <p:sp>
          <p:nvSpPr>
            <p:cNvPr id="44" name="Rectangle 43">
              <a:extLst>
                <a:ext uri="{FF2B5EF4-FFF2-40B4-BE49-F238E27FC236}">
                  <a16:creationId xmlns:a16="http://schemas.microsoft.com/office/drawing/2014/main" id="{4F62B8A6-CE19-8E40-982D-1718EA0847AB}"/>
                </a:ext>
              </a:extLst>
            </p:cNvPr>
            <p:cNvSpPr/>
            <p:nvPr/>
          </p:nvSpPr>
          <p:spPr>
            <a:xfrm>
              <a:off x="9559417" y="1697736"/>
              <a:ext cx="1806984" cy="173420"/>
            </a:xfrm>
            <a:prstGeom prst="rect">
              <a:avLst/>
            </a:prstGeom>
            <a:ln>
              <a:noFill/>
            </a:ln>
          </p:spPr>
          <p:txBody>
            <a:bodyPr vert="horz" lIns="0" tIns="0" rIns="0" bIns="0" rtlCol="0">
              <a:noAutofit/>
            </a:bodyPr>
            <a:lstStyle/>
            <a:p>
              <a:pPr>
                <a:lnSpc>
                  <a:spcPct val="107000"/>
                </a:lnSpc>
                <a:spcAft>
                  <a:spcPts val="800"/>
                </a:spcAft>
                <a:buNone/>
              </a:pPr>
              <a:r>
                <a:rPr lang="en-IN" sz="1000" kern="100">
                  <a:solidFill>
                    <a:srgbClr val="D8E6EF"/>
                  </a:solidFill>
                  <a:effectLst/>
                  <a:latin typeface="Calibri" panose="020F0502020204030204" pitchFamily="34" charset="0"/>
                  <a:ea typeface="Calibri" panose="020F0502020204030204" pitchFamily="34" charset="0"/>
                </a:rPr>
                <a:t>Access the live application</a:t>
              </a:r>
              <a:endParaRPr lang="en-IN" sz="1100" kern="100">
                <a:solidFill>
                  <a:srgbClr val="000000"/>
                </a:solidFill>
                <a:effectLst/>
                <a:latin typeface="Calibri" panose="020F0502020204030204" pitchFamily="34" charset="0"/>
                <a:ea typeface="Calibri" panose="020F0502020204030204" pitchFamily="34" charset="0"/>
              </a:endParaRPr>
            </a:p>
          </p:txBody>
        </p:sp>
      </p:grpSp>
      <p:sp>
        <p:nvSpPr>
          <p:cNvPr id="45" name="TextBox 44">
            <a:extLst>
              <a:ext uri="{FF2B5EF4-FFF2-40B4-BE49-F238E27FC236}">
                <a16:creationId xmlns:a16="http://schemas.microsoft.com/office/drawing/2014/main" id="{3648C0BF-026A-C60C-D669-93B70CA3AC5C}"/>
              </a:ext>
            </a:extLst>
          </p:cNvPr>
          <p:cNvSpPr txBox="1"/>
          <p:nvPr/>
        </p:nvSpPr>
        <p:spPr>
          <a:xfrm>
            <a:off x="838895" y="4154771"/>
            <a:ext cx="10427658" cy="2516962"/>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Process Explanation</a:t>
            </a:r>
          </a:p>
          <a:p>
            <a:pPr marL="285750" lvl="0" indent="-285750" fontAlgn="base">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Developer writes application code. </a:t>
            </a:r>
          </a:p>
          <a:p>
            <a:pPr marL="285750" lvl="0" indent="-285750" fontAlgn="base">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Docker packages the application into a container. </a:t>
            </a:r>
          </a:p>
          <a:p>
            <a:pPr marL="285750" lvl="0" indent="-285750" fontAlgn="base">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Container image is stored in Docker Hub. </a:t>
            </a:r>
          </a:p>
          <a:p>
            <a:pPr marL="285750" lvl="0" indent="-285750" fontAlgn="base">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Kubernetes deploys and manages multiple containers. </a:t>
            </a:r>
          </a:p>
          <a:p>
            <a:pPr marL="285750" lvl="0" indent="-285750" fontAlgn="base">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Cloud platform hosts the application. </a:t>
            </a:r>
          </a:p>
          <a:p>
            <a:pPr marL="285750" lvl="0" indent="-285750" fontAlgn="base">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Users access the application through the internet</a:t>
            </a:r>
          </a:p>
          <a:p>
            <a:endParaRPr lang="en-IN" dirty="0"/>
          </a:p>
        </p:txBody>
      </p:sp>
    </p:spTree>
    <p:extLst>
      <p:ext uri="{BB962C8B-B14F-4D97-AF65-F5344CB8AC3E}">
        <p14:creationId xmlns:p14="http://schemas.microsoft.com/office/powerpoint/2010/main" val="2998668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A6977-D7EC-B4B8-FD2E-6B4E9E03851C}"/>
              </a:ext>
            </a:extLst>
          </p:cNvPr>
          <p:cNvSpPr>
            <a:spLocks noGrp="1"/>
          </p:cNvSpPr>
          <p:nvPr>
            <p:ph type="title"/>
          </p:nvPr>
        </p:nvSpPr>
        <p:spPr>
          <a:xfrm>
            <a:off x="766233" y="457200"/>
            <a:ext cx="10659533" cy="1740958"/>
          </a:xfrm>
        </p:spPr>
        <p:txBody>
          <a:bodyPr>
            <a:noAutofit/>
          </a:bodyPr>
          <a:lstStyle/>
          <a:p>
            <a:r>
              <a:rPr lang="en-IN" sz="4000" b="1" dirty="0">
                <a:latin typeface="Times New Roman" panose="02020603050405020304" pitchFamily="18" charset="0"/>
                <a:cs typeface="Times New Roman" panose="02020603050405020304" pitchFamily="18" charset="0"/>
              </a:rPr>
              <a:t>Benefits:</a:t>
            </a:r>
            <a:br>
              <a:rPr lang="en-IN" sz="4000" dirty="0">
                <a:latin typeface="Times New Roman" panose="02020603050405020304" pitchFamily="18" charset="0"/>
                <a:cs typeface="Times New Roman" panose="02020603050405020304" pitchFamily="18" charset="0"/>
              </a:rPr>
            </a:br>
            <a:r>
              <a:rPr lang="en-IN" sz="4000" b="1" dirty="0">
                <a:latin typeface="Times New Roman" panose="02020603050405020304" pitchFamily="18" charset="0"/>
                <a:cs typeface="Times New Roman" panose="02020603050405020304" pitchFamily="18" charset="0"/>
              </a:rPr>
              <a:t>Advantages of Containerization</a:t>
            </a:r>
            <a:br>
              <a:rPr lang="en-IN" sz="4000" dirty="0">
                <a:latin typeface="Times New Roman" panose="02020603050405020304" pitchFamily="18" charset="0"/>
                <a:cs typeface="Times New Roman" panose="02020603050405020304" pitchFamily="18" charset="0"/>
              </a:rPr>
            </a:b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BB9661C-DC1D-EE8B-A9B6-3909E07CF2F7}"/>
              </a:ext>
            </a:extLst>
          </p:cNvPr>
          <p:cNvSpPr>
            <a:spLocks noGrp="1"/>
          </p:cNvSpPr>
          <p:nvPr>
            <p:ph idx="1"/>
          </p:nvPr>
        </p:nvSpPr>
        <p:spPr>
          <a:xfrm>
            <a:off x="1947333" y="1893358"/>
            <a:ext cx="5842000" cy="4507442"/>
          </a:xfrm>
        </p:spPr>
        <p:txBody>
          <a:bodyPr>
            <a:normAutofit/>
          </a:bodyPr>
          <a:lstStyle/>
          <a:p>
            <a:r>
              <a:rPr lang="en-IN" dirty="0">
                <a:latin typeface="Times New Roman" panose="02020603050405020304" pitchFamily="18" charset="0"/>
                <a:cs typeface="Times New Roman" panose="02020603050405020304" pitchFamily="18" charset="0"/>
              </a:rPr>
              <a:t>Faster software deployment </a:t>
            </a:r>
          </a:p>
          <a:p>
            <a:r>
              <a:rPr lang="en-IN" dirty="0">
                <a:latin typeface="Times New Roman" panose="02020603050405020304" pitchFamily="18" charset="0"/>
                <a:cs typeface="Times New Roman" panose="02020603050405020304" pitchFamily="18" charset="0"/>
              </a:rPr>
              <a:t>Better scalability </a:t>
            </a:r>
          </a:p>
          <a:p>
            <a:r>
              <a:rPr lang="en-IN" dirty="0">
                <a:latin typeface="Times New Roman" panose="02020603050405020304" pitchFamily="18" charset="0"/>
                <a:cs typeface="Times New Roman" panose="02020603050405020304" pitchFamily="18" charset="0"/>
              </a:rPr>
              <a:t>High portability </a:t>
            </a:r>
          </a:p>
          <a:p>
            <a:r>
              <a:rPr lang="en-IN" dirty="0">
                <a:latin typeface="Times New Roman" panose="02020603050405020304" pitchFamily="18" charset="0"/>
                <a:cs typeface="Times New Roman" panose="02020603050405020304" pitchFamily="18" charset="0"/>
              </a:rPr>
              <a:t>Lower infrastructure cost </a:t>
            </a:r>
          </a:p>
          <a:p>
            <a:r>
              <a:rPr lang="en-IN" dirty="0">
                <a:latin typeface="Times New Roman" panose="02020603050405020304" pitchFamily="18" charset="0"/>
                <a:cs typeface="Times New Roman" panose="02020603050405020304" pitchFamily="18" charset="0"/>
              </a:rPr>
              <a:t>Efficient CPU and memory utilization </a:t>
            </a:r>
          </a:p>
          <a:p>
            <a:r>
              <a:rPr lang="en-IN" dirty="0">
                <a:latin typeface="Times New Roman" panose="02020603050405020304" pitchFamily="18" charset="0"/>
                <a:cs typeface="Times New Roman" panose="02020603050405020304" pitchFamily="18" charset="0"/>
              </a:rPr>
              <a:t>Easy application updates </a:t>
            </a:r>
          </a:p>
          <a:p>
            <a:r>
              <a:rPr lang="en-IN" dirty="0">
                <a:latin typeface="Times New Roman" panose="02020603050405020304" pitchFamily="18" charset="0"/>
                <a:cs typeface="Times New Roman" panose="02020603050405020304" pitchFamily="18" charset="0"/>
              </a:rPr>
              <a:t>High availability </a:t>
            </a:r>
          </a:p>
          <a:p>
            <a:r>
              <a:rPr lang="en-IN" dirty="0">
                <a:latin typeface="Times New Roman" panose="02020603050405020304" pitchFamily="18" charset="0"/>
                <a:cs typeface="Times New Roman" panose="02020603050405020304" pitchFamily="18" charset="0"/>
              </a:rPr>
              <a:t>Faster disaster recovery</a:t>
            </a:r>
          </a:p>
          <a:p>
            <a:pPr marL="0" indent="0">
              <a:buNone/>
            </a:pPr>
            <a:endParaRPr lang="en-IN" dirty="0"/>
          </a:p>
        </p:txBody>
      </p:sp>
      <p:grpSp>
        <p:nvGrpSpPr>
          <p:cNvPr id="4" name="Group 3">
            <a:extLst>
              <a:ext uri="{FF2B5EF4-FFF2-40B4-BE49-F238E27FC236}">
                <a16:creationId xmlns:a16="http://schemas.microsoft.com/office/drawing/2014/main" id="{BC271B82-1A1F-1C9A-4769-78E16060A0AD}"/>
              </a:ext>
            </a:extLst>
          </p:cNvPr>
          <p:cNvGrpSpPr/>
          <p:nvPr/>
        </p:nvGrpSpPr>
        <p:grpSpPr>
          <a:xfrm>
            <a:off x="8869680" y="0"/>
            <a:ext cx="3322320" cy="3200400"/>
            <a:chOff x="0" y="0"/>
            <a:chExt cx="3322320" cy="3200400"/>
          </a:xfrm>
        </p:grpSpPr>
        <p:sp>
          <p:nvSpPr>
            <p:cNvPr id="5" name="Shape 7">
              <a:extLst>
                <a:ext uri="{FF2B5EF4-FFF2-40B4-BE49-F238E27FC236}">
                  <a16:creationId xmlns:a16="http://schemas.microsoft.com/office/drawing/2014/main" id="{0F77BD36-7CCC-1B53-BB34-D92C42993C77}"/>
                </a:ext>
              </a:extLst>
            </p:cNvPr>
            <p:cNvSpPr/>
            <p:nvPr/>
          </p:nvSpPr>
          <p:spPr>
            <a:xfrm>
              <a:off x="0" y="0"/>
              <a:ext cx="3322320" cy="3200400"/>
            </a:xfrm>
            <a:custGeom>
              <a:avLst/>
              <a:gdLst/>
              <a:ahLst/>
              <a:cxnLst/>
              <a:rect l="0" t="0" r="0" b="0"/>
              <a:pathLst>
                <a:path w="3322320" h="3200400">
                  <a:moveTo>
                    <a:pt x="190766" y="0"/>
                  </a:moveTo>
                  <a:lnTo>
                    <a:pt x="3322320" y="0"/>
                  </a:lnTo>
                  <a:lnTo>
                    <a:pt x="3322320" y="2951797"/>
                  </a:lnTo>
                  <a:lnTo>
                    <a:pt x="3277068" y="2974973"/>
                  </a:lnTo>
                  <a:cubicBezTo>
                    <a:pt x="2977254" y="3119440"/>
                    <a:pt x="2641080" y="3200400"/>
                    <a:pt x="2286000" y="3200400"/>
                  </a:cubicBezTo>
                  <a:cubicBezTo>
                    <a:pt x="1023493" y="3200400"/>
                    <a:pt x="0" y="2176907"/>
                    <a:pt x="0" y="914400"/>
                  </a:cubicBezTo>
                  <a:cubicBezTo>
                    <a:pt x="0" y="598773"/>
                    <a:pt x="63968" y="298085"/>
                    <a:pt x="179647" y="24593"/>
                  </a:cubicBezTo>
                  <a:lnTo>
                    <a:pt x="190766" y="0"/>
                  </a:lnTo>
                  <a:close/>
                </a:path>
              </a:pathLst>
            </a:custGeom>
            <a:ln w="0" cap="flat">
              <a:miter lim="127000"/>
            </a:ln>
          </p:spPr>
          <p:style>
            <a:lnRef idx="0">
              <a:srgbClr val="000000">
                <a:alpha val="0"/>
              </a:srgbClr>
            </a:lnRef>
            <a:fillRef idx="1">
              <a:srgbClr val="065A82">
                <a:alpha val="45098"/>
              </a:srgbClr>
            </a:fillRef>
            <a:effectRef idx="0">
              <a:scrgbClr r="0" g="0" b="0"/>
            </a:effectRef>
            <a:fontRef idx="none"/>
          </p:style>
          <p:txBody>
            <a:bodyPr/>
            <a:lstStyle/>
            <a:p>
              <a:endParaRPr lang="en-IN"/>
            </a:p>
          </p:txBody>
        </p:sp>
      </p:grpSp>
      <p:grpSp>
        <p:nvGrpSpPr>
          <p:cNvPr id="6" name="Group 5">
            <a:extLst>
              <a:ext uri="{FF2B5EF4-FFF2-40B4-BE49-F238E27FC236}">
                <a16:creationId xmlns:a16="http://schemas.microsoft.com/office/drawing/2014/main" id="{2BF7078C-E6BC-3A16-16AE-933E8427F617}"/>
              </a:ext>
            </a:extLst>
          </p:cNvPr>
          <p:cNvGrpSpPr/>
          <p:nvPr/>
        </p:nvGrpSpPr>
        <p:grpSpPr>
          <a:xfrm>
            <a:off x="10515600" y="3840480"/>
            <a:ext cx="1676400" cy="2925445"/>
            <a:chOff x="0" y="0"/>
            <a:chExt cx="1676400" cy="2926079"/>
          </a:xfrm>
        </p:grpSpPr>
        <p:sp>
          <p:nvSpPr>
            <p:cNvPr id="7" name="Shape 8">
              <a:extLst>
                <a:ext uri="{FF2B5EF4-FFF2-40B4-BE49-F238E27FC236}">
                  <a16:creationId xmlns:a16="http://schemas.microsoft.com/office/drawing/2014/main" id="{86C8D925-C35E-F596-3AF7-A9C8E35BBE4A}"/>
                </a:ext>
              </a:extLst>
            </p:cNvPr>
            <p:cNvSpPr/>
            <p:nvPr/>
          </p:nvSpPr>
          <p:spPr>
            <a:xfrm>
              <a:off x="0" y="0"/>
              <a:ext cx="1676400" cy="2926079"/>
            </a:xfrm>
            <a:custGeom>
              <a:avLst/>
              <a:gdLst/>
              <a:ahLst/>
              <a:cxnLst/>
              <a:rect l="0" t="0" r="0" b="0"/>
              <a:pathLst>
                <a:path w="1676400" h="2926079">
                  <a:moveTo>
                    <a:pt x="1463040" y="0"/>
                  </a:moveTo>
                  <a:cubicBezTo>
                    <a:pt x="1513539" y="0"/>
                    <a:pt x="1563440" y="2559"/>
                    <a:pt x="1612621" y="7554"/>
                  </a:cubicBezTo>
                  <a:lnTo>
                    <a:pt x="1676400" y="17289"/>
                  </a:lnTo>
                  <a:lnTo>
                    <a:pt x="1676400" y="2908791"/>
                  </a:lnTo>
                  <a:lnTo>
                    <a:pt x="1612621" y="2918525"/>
                  </a:lnTo>
                  <a:cubicBezTo>
                    <a:pt x="1563440" y="2923521"/>
                    <a:pt x="1513539" y="2926079"/>
                    <a:pt x="1463040" y="2926079"/>
                  </a:cubicBezTo>
                  <a:cubicBezTo>
                    <a:pt x="655066" y="2926079"/>
                    <a:pt x="0" y="2271052"/>
                    <a:pt x="0" y="1463040"/>
                  </a:cubicBezTo>
                  <a:cubicBezTo>
                    <a:pt x="0" y="655066"/>
                    <a:pt x="655066" y="0"/>
                    <a:pt x="1463040" y="0"/>
                  </a:cubicBezTo>
                  <a:close/>
                </a:path>
              </a:pathLst>
            </a:custGeom>
            <a:ln w="0" cap="flat">
              <a:miter lim="127000"/>
            </a:ln>
          </p:spPr>
          <p:style>
            <a:lnRef idx="0">
              <a:srgbClr val="000000">
                <a:alpha val="0"/>
              </a:srgbClr>
            </a:lnRef>
            <a:fillRef idx="1">
              <a:srgbClr val="1C7293">
                <a:alpha val="45098"/>
              </a:srgbClr>
            </a:fillRef>
            <a:effectRef idx="0">
              <a:scrgbClr r="0" g="0" b="0"/>
            </a:effectRef>
            <a:fontRef idx="none"/>
          </p:style>
          <p:txBody>
            <a:bodyPr/>
            <a:lstStyle/>
            <a:p>
              <a:endParaRPr lang="en-IN"/>
            </a:p>
          </p:txBody>
        </p:sp>
      </p:grpSp>
      <p:sp>
        <p:nvSpPr>
          <p:cNvPr id="8" name="Rectangle 5">
            <a:extLst>
              <a:ext uri="{FF2B5EF4-FFF2-40B4-BE49-F238E27FC236}">
                <a16:creationId xmlns:a16="http://schemas.microsoft.com/office/drawing/2014/main" id="{3E251AFF-80C2-8FDC-B7BA-E0E95F1DB92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2358282" bIns="282486"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094657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667203B-1E9B-C707-327D-1AE580EE31FD}"/>
              </a:ext>
            </a:extLst>
          </p:cNvPr>
          <p:cNvGraphicFramePr>
            <a:graphicFrameLocks noGrp="1"/>
          </p:cNvGraphicFramePr>
          <p:nvPr>
            <p:ph idx="1"/>
            <p:extLst>
              <p:ext uri="{D42A27DB-BD31-4B8C-83A1-F6EECF244321}">
                <p14:modId xmlns:p14="http://schemas.microsoft.com/office/powerpoint/2010/main" val="3875796315"/>
              </p:ext>
            </p:extLst>
          </p:nvPr>
        </p:nvGraphicFramePr>
        <p:xfrm>
          <a:off x="748937" y="3196293"/>
          <a:ext cx="10467137" cy="1264205"/>
        </p:xfrm>
        <a:graphic>
          <a:graphicData uri="http://schemas.openxmlformats.org/drawingml/2006/table">
            <a:tbl>
              <a:tblPr firstRow="1" firstCol="1" bandRow="1">
                <a:tableStyleId>{5C22544A-7EE6-4342-B048-85BDC9FD1C3A}</a:tableStyleId>
              </a:tblPr>
              <a:tblGrid>
                <a:gridCol w="2194560">
                  <a:extLst>
                    <a:ext uri="{9D8B030D-6E8A-4147-A177-3AD203B41FA5}">
                      <a16:colId xmlns:a16="http://schemas.microsoft.com/office/drawing/2014/main" val="635511201"/>
                    </a:ext>
                  </a:extLst>
                </a:gridCol>
                <a:gridCol w="2473234">
                  <a:extLst>
                    <a:ext uri="{9D8B030D-6E8A-4147-A177-3AD203B41FA5}">
                      <a16:colId xmlns:a16="http://schemas.microsoft.com/office/drawing/2014/main" val="439617687"/>
                    </a:ext>
                  </a:extLst>
                </a:gridCol>
                <a:gridCol w="2072640">
                  <a:extLst>
                    <a:ext uri="{9D8B030D-6E8A-4147-A177-3AD203B41FA5}">
                      <a16:colId xmlns:a16="http://schemas.microsoft.com/office/drawing/2014/main" val="4136337764"/>
                    </a:ext>
                  </a:extLst>
                </a:gridCol>
                <a:gridCol w="1863635">
                  <a:extLst>
                    <a:ext uri="{9D8B030D-6E8A-4147-A177-3AD203B41FA5}">
                      <a16:colId xmlns:a16="http://schemas.microsoft.com/office/drawing/2014/main" val="33286201"/>
                    </a:ext>
                  </a:extLst>
                </a:gridCol>
                <a:gridCol w="1863068">
                  <a:extLst>
                    <a:ext uri="{9D8B030D-6E8A-4147-A177-3AD203B41FA5}">
                      <a16:colId xmlns:a16="http://schemas.microsoft.com/office/drawing/2014/main" val="3417593693"/>
                    </a:ext>
                  </a:extLst>
                </a:gridCol>
              </a:tblGrid>
              <a:tr h="1264205">
                <a:tc>
                  <a:txBody>
                    <a:bodyPr/>
                    <a:lstStyle/>
                    <a:p>
                      <a:pPr marL="481330">
                        <a:lnSpc>
                          <a:spcPct val="107000"/>
                        </a:lnSpc>
                        <a:spcAft>
                          <a:spcPts val="2055"/>
                        </a:spcAft>
                        <a:buNone/>
                      </a:pPr>
                      <a:r>
                        <a:rPr lang="en-IN" sz="1400" kern="100">
                          <a:effectLst/>
                        </a:rPr>
                        <a:t>Netflix</a:t>
                      </a:r>
                      <a:endParaRPr lang="en-IN" sz="1100" kern="100">
                        <a:effectLst/>
                      </a:endParaRPr>
                    </a:p>
                    <a:p>
                      <a:pPr marL="233045" marR="688340">
                        <a:lnSpc>
                          <a:spcPct val="107000"/>
                        </a:lnSpc>
                        <a:spcAft>
                          <a:spcPts val="800"/>
                        </a:spcAft>
                        <a:buNone/>
                      </a:pPr>
                      <a:r>
                        <a:rPr lang="en-IN" sz="1000" kern="100">
                          <a:effectLst/>
                        </a:rPr>
                        <a:t>Runs thousands of microservices in containers for global streaming</a:t>
                      </a:r>
                      <a:endParaRPr lang="en-IN" sz="1100" kern="100">
                        <a:solidFill>
                          <a:srgbClr val="000000"/>
                        </a:solidFill>
                        <a:effectLst/>
                        <a:latin typeface="Calibri" panose="020F0502020204030204" pitchFamily="34" charset="0"/>
                        <a:ea typeface="Calibri" panose="020F0502020204030204" pitchFamily="34" charset="0"/>
                      </a:endParaRPr>
                    </a:p>
                  </a:txBody>
                  <a:tcPr marL="0" marR="0" marT="0" marB="0"/>
                </a:tc>
                <a:tc>
                  <a:txBody>
                    <a:bodyPr/>
                    <a:lstStyle/>
                    <a:p>
                      <a:pPr marL="461645">
                        <a:lnSpc>
                          <a:spcPct val="107000"/>
                        </a:lnSpc>
                        <a:spcAft>
                          <a:spcPts val="2175"/>
                        </a:spcAft>
                        <a:buNone/>
                      </a:pPr>
                      <a:r>
                        <a:rPr lang="en-IN" sz="1400" kern="100">
                          <a:effectLst/>
                        </a:rPr>
                        <a:t>Spotify</a:t>
                      </a:r>
                      <a:endParaRPr lang="en-IN" sz="1100" kern="100">
                        <a:effectLst/>
                      </a:endParaRPr>
                    </a:p>
                    <a:p>
                      <a:pPr marL="233045" marR="522605">
                        <a:lnSpc>
                          <a:spcPct val="107000"/>
                        </a:lnSpc>
                        <a:spcAft>
                          <a:spcPts val="800"/>
                        </a:spcAft>
                        <a:buNone/>
                      </a:pPr>
                      <a:r>
                        <a:rPr lang="en-IN" sz="1000" kern="100">
                          <a:effectLst/>
                        </a:rPr>
                        <a:t>Uses container orchestration to serve personalized music at scale</a:t>
                      </a:r>
                      <a:endParaRPr lang="en-IN" sz="1100" kern="100">
                        <a:solidFill>
                          <a:srgbClr val="000000"/>
                        </a:solidFill>
                        <a:effectLst/>
                        <a:latin typeface="Calibri" panose="020F0502020204030204" pitchFamily="34" charset="0"/>
                        <a:ea typeface="Calibri" panose="020F0502020204030204" pitchFamily="34" charset="0"/>
                      </a:endParaRPr>
                    </a:p>
                  </a:txBody>
                  <a:tcPr marL="0" marR="0" marT="0" marB="0"/>
                </a:tc>
                <a:tc>
                  <a:txBody>
                    <a:bodyPr/>
                    <a:lstStyle/>
                    <a:p>
                      <a:pPr marL="342265">
                        <a:lnSpc>
                          <a:spcPct val="107000"/>
                        </a:lnSpc>
                        <a:spcAft>
                          <a:spcPts val="2320"/>
                        </a:spcAft>
                        <a:buNone/>
                      </a:pPr>
                      <a:r>
                        <a:rPr lang="en-IN" sz="1400" kern="100" dirty="0">
                          <a:effectLst/>
                        </a:rPr>
                        <a:t>Google</a:t>
                      </a:r>
                      <a:endParaRPr lang="en-IN" sz="1100" kern="100" dirty="0">
                        <a:effectLst/>
                      </a:endParaRPr>
                    </a:p>
                    <a:p>
                      <a:pPr marL="36830" marR="410210" indent="-36830">
                        <a:lnSpc>
                          <a:spcPct val="108000"/>
                        </a:lnSpc>
                        <a:spcAft>
                          <a:spcPts val="800"/>
                        </a:spcAft>
                        <a:buNone/>
                      </a:pPr>
                      <a:r>
                        <a:rPr lang="en-IN" sz="1000" kern="100" dirty="0">
                          <a:effectLst/>
                        </a:rPr>
                        <a:t>  Created Kubernetes; runs    everything in containers internally</a:t>
                      </a:r>
                      <a:endParaRPr lang="en-IN" sz="1100" kern="100" dirty="0">
                        <a:solidFill>
                          <a:srgbClr val="000000"/>
                        </a:solidFill>
                        <a:effectLst/>
                        <a:latin typeface="Calibri" panose="020F0502020204030204" pitchFamily="34" charset="0"/>
                        <a:ea typeface="Calibri" panose="020F0502020204030204" pitchFamily="34" charset="0"/>
                      </a:endParaRPr>
                    </a:p>
                  </a:txBody>
                  <a:tcPr marL="0" marR="0" marT="0" marB="0"/>
                </a:tc>
                <a:tc>
                  <a:txBody>
                    <a:bodyPr/>
                    <a:lstStyle/>
                    <a:p>
                      <a:pPr marL="234315">
                        <a:lnSpc>
                          <a:spcPct val="107000"/>
                        </a:lnSpc>
                        <a:spcAft>
                          <a:spcPts val="2480"/>
                        </a:spcAft>
                        <a:buNone/>
                      </a:pPr>
                      <a:r>
                        <a:rPr lang="en-IN" sz="1400" kern="100" dirty="0">
                          <a:effectLst/>
                        </a:rPr>
                        <a:t>Amazon</a:t>
                      </a:r>
                      <a:endParaRPr lang="en-IN" sz="1100" kern="100" dirty="0">
                        <a:effectLst/>
                      </a:endParaRPr>
                    </a:p>
                    <a:p>
                      <a:pPr marL="60960" marR="292735" indent="-60960">
                        <a:lnSpc>
                          <a:spcPct val="107000"/>
                        </a:lnSpc>
                        <a:spcAft>
                          <a:spcPts val="800"/>
                        </a:spcAft>
                        <a:buNone/>
                      </a:pPr>
                      <a:r>
                        <a:rPr lang="en-IN" sz="1000" kern="100" dirty="0">
                          <a:effectLst/>
                        </a:rPr>
                        <a:t>  Powers AWS and internal services with container platforms</a:t>
                      </a:r>
                      <a:endParaRPr lang="en-IN" sz="1100" kern="100" dirty="0">
                        <a:solidFill>
                          <a:srgbClr val="000000"/>
                        </a:solidFill>
                        <a:effectLst/>
                        <a:latin typeface="Calibri" panose="020F0502020204030204" pitchFamily="34" charset="0"/>
                        <a:ea typeface="Calibri" panose="020F0502020204030204" pitchFamily="34" charset="0"/>
                      </a:endParaRPr>
                    </a:p>
                  </a:txBody>
                  <a:tcPr marL="0" marR="0" marT="0" marB="0"/>
                </a:tc>
                <a:tc>
                  <a:txBody>
                    <a:bodyPr/>
                    <a:lstStyle/>
                    <a:p>
                      <a:pPr marL="95885">
                        <a:lnSpc>
                          <a:spcPct val="107000"/>
                        </a:lnSpc>
                        <a:spcAft>
                          <a:spcPts val="2260"/>
                        </a:spcAft>
                        <a:buNone/>
                      </a:pPr>
                      <a:r>
                        <a:rPr lang="en-IN" sz="1400" kern="100" dirty="0">
                          <a:effectLst/>
                        </a:rPr>
                        <a:t>Microsoft Azure</a:t>
                      </a:r>
                      <a:endParaRPr lang="en-IN" sz="1100" kern="100" dirty="0">
                        <a:effectLst/>
                      </a:endParaRPr>
                    </a:p>
                    <a:p>
                      <a:pPr marL="95885">
                        <a:lnSpc>
                          <a:spcPct val="107000"/>
                        </a:lnSpc>
                        <a:spcAft>
                          <a:spcPts val="2260"/>
                        </a:spcAft>
                        <a:buNone/>
                      </a:pPr>
                      <a:r>
                        <a:rPr lang="en-IN" sz="1000" kern="100" dirty="0">
                          <a:effectLst/>
                        </a:rPr>
                        <a:t>Offers  managed Kubernetes  AKS) </a:t>
                      </a:r>
                      <a:r>
                        <a:rPr lang="en-IN" sz="1000" kern="100" dirty="0" err="1">
                          <a:effectLst/>
                        </a:rPr>
                        <a:t>forenterprise</a:t>
                      </a:r>
                      <a:r>
                        <a:rPr lang="en-IN" sz="1000" kern="100" dirty="0">
                          <a:effectLst/>
                        </a:rPr>
                        <a:t> cloud native apps</a:t>
                      </a:r>
                      <a:endParaRPr lang="en-IN" sz="1100" kern="100" dirty="0">
                        <a:solidFill>
                          <a:srgbClr val="000000"/>
                        </a:solidFill>
                        <a:effectLst/>
                        <a:latin typeface="Calibri" panose="020F0502020204030204" pitchFamily="34" charset="0"/>
                        <a:ea typeface="Calibri" panose="020F0502020204030204" pitchFamily="34" charset="0"/>
                      </a:endParaRPr>
                    </a:p>
                  </a:txBody>
                  <a:tcPr marL="0" marR="0" marT="0" marB="0" anchor="b"/>
                </a:tc>
                <a:extLst>
                  <a:ext uri="{0D108BD9-81ED-4DB2-BD59-A6C34878D82A}">
                    <a16:rowId xmlns:a16="http://schemas.microsoft.com/office/drawing/2014/main" val="3924626701"/>
                  </a:ext>
                </a:extLst>
              </a:tr>
            </a:tbl>
          </a:graphicData>
        </a:graphic>
      </p:graphicFrame>
      <p:grpSp>
        <p:nvGrpSpPr>
          <p:cNvPr id="5" name="Group 4">
            <a:extLst>
              <a:ext uri="{FF2B5EF4-FFF2-40B4-BE49-F238E27FC236}">
                <a16:creationId xmlns:a16="http://schemas.microsoft.com/office/drawing/2014/main" id="{F09B5A61-DF3F-6FBE-64DA-F67BBFBB1D44}"/>
              </a:ext>
            </a:extLst>
          </p:cNvPr>
          <p:cNvGrpSpPr/>
          <p:nvPr/>
        </p:nvGrpSpPr>
        <p:grpSpPr>
          <a:xfrm>
            <a:off x="1014064" y="2235361"/>
            <a:ext cx="5465763" cy="754062"/>
            <a:chOff x="-22860" y="160012"/>
            <a:chExt cx="5466588" cy="754388"/>
          </a:xfrm>
        </p:grpSpPr>
        <p:sp>
          <p:nvSpPr>
            <p:cNvPr id="6" name="Shape 209">
              <a:extLst>
                <a:ext uri="{FF2B5EF4-FFF2-40B4-BE49-F238E27FC236}">
                  <a16:creationId xmlns:a16="http://schemas.microsoft.com/office/drawing/2014/main" id="{CF47B780-D8FC-6690-4C04-CFFCDC41CA45}"/>
                </a:ext>
              </a:extLst>
            </p:cNvPr>
            <p:cNvSpPr/>
            <p:nvPr/>
          </p:nvSpPr>
          <p:spPr>
            <a:xfrm>
              <a:off x="-22860" y="160020"/>
              <a:ext cx="731520" cy="731520"/>
            </a:xfrm>
            <a:custGeom>
              <a:avLst/>
              <a:gdLst/>
              <a:ahLst/>
              <a:cxnLst/>
              <a:rect l="0" t="0" r="0" b="0"/>
              <a:pathLst>
                <a:path w="731520" h="731520">
                  <a:moveTo>
                    <a:pt x="365760" y="0"/>
                  </a:moveTo>
                  <a:cubicBezTo>
                    <a:pt x="567817" y="0"/>
                    <a:pt x="731520" y="163703"/>
                    <a:pt x="731520" y="365760"/>
                  </a:cubicBezTo>
                  <a:cubicBezTo>
                    <a:pt x="731520" y="567817"/>
                    <a:pt x="567817" y="731520"/>
                    <a:pt x="365760" y="731520"/>
                  </a:cubicBezTo>
                  <a:cubicBezTo>
                    <a:pt x="163703" y="731520"/>
                    <a:pt x="0" y="567817"/>
                    <a:pt x="0" y="365760"/>
                  </a:cubicBezTo>
                  <a:cubicBezTo>
                    <a:pt x="0" y="163703"/>
                    <a:pt x="163703" y="0"/>
                    <a:pt x="365760" y="0"/>
                  </a:cubicBezTo>
                  <a:close/>
                </a:path>
              </a:pathLst>
            </a:custGeom>
            <a:ln w="0" cap="flat">
              <a:miter lim="127000"/>
            </a:ln>
          </p:spPr>
          <p:style>
            <a:lnRef idx="0">
              <a:srgbClr val="000000">
                <a:alpha val="0"/>
              </a:srgbClr>
            </a:lnRef>
            <a:fillRef idx="1">
              <a:srgbClr val="065A82"/>
            </a:fillRef>
            <a:effectRef idx="0">
              <a:scrgbClr r="0" g="0" b="0"/>
            </a:effectRef>
            <a:fontRef idx="none"/>
          </p:style>
          <p:txBody>
            <a:bodyPr/>
            <a:lstStyle/>
            <a:p>
              <a:endParaRPr lang="en-IN"/>
            </a:p>
          </p:txBody>
        </p:sp>
        <p:pic>
          <p:nvPicPr>
            <p:cNvPr id="7" name="Picture 6">
              <a:extLst>
                <a:ext uri="{FF2B5EF4-FFF2-40B4-BE49-F238E27FC236}">
                  <a16:creationId xmlns:a16="http://schemas.microsoft.com/office/drawing/2014/main" id="{F447B967-CF47-4FF4-A368-7AFB58A6574B}"/>
                </a:ext>
              </a:extLst>
            </p:cNvPr>
            <p:cNvPicPr/>
            <p:nvPr/>
          </p:nvPicPr>
          <p:blipFill>
            <a:blip r:embed="rId2"/>
            <a:stretch>
              <a:fillRect/>
            </a:stretch>
          </p:blipFill>
          <p:spPr>
            <a:xfrm>
              <a:off x="132588" y="307848"/>
              <a:ext cx="420624" cy="420624"/>
            </a:xfrm>
            <a:prstGeom prst="rect">
              <a:avLst/>
            </a:prstGeom>
          </p:spPr>
        </p:pic>
        <p:sp>
          <p:nvSpPr>
            <p:cNvPr id="8" name="Shape 216">
              <a:extLst>
                <a:ext uri="{FF2B5EF4-FFF2-40B4-BE49-F238E27FC236}">
                  <a16:creationId xmlns:a16="http://schemas.microsoft.com/office/drawing/2014/main" id="{717C8FC4-EED7-FC80-123C-A29021F5CF71}"/>
                </a:ext>
              </a:extLst>
            </p:cNvPr>
            <p:cNvSpPr/>
            <p:nvPr/>
          </p:nvSpPr>
          <p:spPr>
            <a:xfrm>
              <a:off x="2342388" y="182880"/>
              <a:ext cx="731520" cy="731520"/>
            </a:xfrm>
            <a:custGeom>
              <a:avLst/>
              <a:gdLst/>
              <a:ahLst/>
              <a:cxnLst/>
              <a:rect l="0" t="0" r="0" b="0"/>
              <a:pathLst>
                <a:path w="731520" h="731520">
                  <a:moveTo>
                    <a:pt x="365760" y="0"/>
                  </a:moveTo>
                  <a:cubicBezTo>
                    <a:pt x="567817" y="0"/>
                    <a:pt x="731520" y="163703"/>
                    <a:pt x="731520" y="365760"/>
                  </a:cubicBezTo>
                  <a:cubicBezTo>
                    <a:pt x="731520" y="567817"/>
                    <a:pt x="567817" y="731520"/>
                    <a:pt x="365760" y="731520"/>
                  </a:cubicBezTo>
                  <a:cubicBezTo>
                    <a:pt x="163703" y="731520"/>
                    <a:pt x="0" y="567817"/>
                    <a:pt x="0" y="365760"/>
                  </a:cubicBezTo>
                  <a:cubicBezTo>
                    <a:pt x="0" y="163703"/>
                    <a:pt x="163703" y="0"/>
                    <a:pt x="365760" y="0"/>
                  </a:cubicBezTo>
                  <a:close/>
                </a:path>
              </a:pathLst>
            </a:custGeom>
            <a:ln w="0" cap="flat">
              <a:miter lim="127000"/>
            </a:ln>
          </p:spPr>
          <p:style>
            <a:lnRef idx="0">
              <a:srgbClr val="000000">
                <a:alpha val="0"/>
              </a:srgbClr>
            </a:lnRef>
            <a:fillRef idx="1">
              <a:srgbClr val="1C7293"/>
            </a:fillRef>
            <a:effectRef idx="0">
              <a:scrgbClr r="0" g="0" b="0"/>
            </a:effectRef>
            <a:fontRef idx="none"/>
          </p:style>
          <p:txBody>
            <a:bodyPr/>
            <a:lstStyle/>
            <a:p>
              <a:endParaRPr lang="en-IN"/>
            </a:p>
          </p:txBody>
        </p:sp>
        <p:pic>
          <p:nvPicPr>
            <p:cNvPr id="9" name="Picture 8">
              <a:extLst>
                <a:ext uri="{FF2B5EF4-FFF2-40B4-BE49-F238E27FC236}">
                  <a16:creationId xmlns:a16="http://schemas.microsoft.com/office/drawing/2014/main" id="{907F8629-76A9-4C9F-5F1B-115ACE2004AD}"/>
                </a:ext>
              </a:extLst>
            </p:cNvPr>
            <p:cNvPicPr/>
            <p:nvPr/>
          </p:nvPicPr>
          <p:blipFill>
            <a:blip r:embed="rId3"/>
            <a:stretch>
              <a:fillRect/>
            </a:stretch>
          </p:blipFill>
          <p:spPr>
            <a:xfrm>
              <a:off x="2458212" y="338328"/>
              <a:ext cx="420624" cy="420624"/>
            </a:xfrm>
            <a:prstGeom prst="rect">
              <a:avLst/>
            </a:prstGeom>
          </p:spPr>
        </p:pic>
        <p:sp>
          <p:nvSpPr>
            <p:cNvPr id="10" name="Shape 223">
              <a:extLst>
                <a:ext uri="{FF2B5EF4-FFF2-40B4-BE49-F238E27FC236}">
                  <a16:creationId xmlns:a16="http://schemas.microsoft.com/office/drawing/2014/main" id="{FF92E341-89FB-07AC-3C3D-92DF93407723}"/>
                </a:ext>
              </a:extLst>
            </p:cNvPr>
            <p:cNvSpPr/>
            <p:nvPr/>
          </p:nvSpPr>
          <p:spPr>
            <a:xfrm>
              <a:off x="4712208" y="160012"/>
              <a:ext cx="731520" cy="731520"/>
            </a:xfrm>
            <a:custGeom>
              <a:avLst/>
              <a:gdLst/>
              <a:ahLst/>
              <a:cxnLst/>
              <a:rect l="0" t="0" r="0" b="0"/>
              <a:pathLst>
                <a:path w="731520" h="731520">
                  <a:moveTo>
                    <a:pt x="365760" y="0"/>
                  </a:moveTo>
                  <a:cubicBezTo>
                    <a:pt x="567817" y="0"/>
                    <a:pt x="731520" y="163703"/>
                    <a:pt x="731520" y="365760"/>
                  </a:cubicBezTo>
                  <a:cubicBezTo>
                    <a:pt x="731520" y="567817"/>
                    <a:pt x="567817" y="731520"/>
                    <a:pt x="365760" y="731520"/>
                  </a:cubicBezTo>
                  <a:cubicBezTo>
                    <a:pt x="163703" y="731520"/>
                    <a:pt x="0" y="567817"/>
                    <a:pt x="0" y="365760"/>
                  </a:cubicBezTo>
                  <a:cubicBezTo>
                    <a:pt x="0" y="163703"/>
                    <a:pt x="163703" y="0"/>
                    <a:pt x="365760" y="0"/>
                  </a:cubicBezTo>
                  <a:close/>
                </a:path>
              </a:pathLst>
            </a:custGeom>
            <a:ln w="0" cap="flat">
              <a:miter lim="127000"/>
            </a:ln>
          </p:spPr>
          <p:style>
            <a:lnRef idx="0">
              <a:srgbClr val="000000">
                <a:alpha val="0"/>
              </a:srgbClr>
            </a:lnRef>
            <a:fillRef idx="1">
              <a:srgbClr val="065A82"/>
            </a:fillRef>
            <a:effectRef idx="0">
              <a:scrgbClr r="0" g="0" b="0"/>
            </a:effectRef>
            <a:fontRef idx="none"/>
          </p:style>
          <p:txBody>
            <a:bodyPr/>
            <a:lstStyle/>
            <a:p>
              <a:endParaRPr lang="en-IN"/>
            </a:p>
          </p:txBody>
        </p:sp>
        <p:pic>
          <p:nvPicPr>
            <p:cNvPr id="11" name="Picture 10">
              <a:extLst>
                <a:ext uri="{FF2B5EF4-FFF2-40B4-BE49-F238E27FC236}">
                  <a16:creationId xmlns:a16="http://schemas.microsoft.com/office/drawing/2014/main" id="{BA531236-34CF-14F2-0215-2DB23E947886}"/>
                </a:ext>
              </a:extLst>
            </p:cNvPr>
            <p:cNvPicPr/>
            <p:nvPr/>
          </p:nvPicPr>
          <p:blipFill>
            <a:blip r:embed="rId4"/>
            <a:stretch>
              <a:fillRect/>
            </a:stretch>
          </p:blipFill>
          <p:spPr>
            <a:xfrm>
              <a:off x="4852416" y="307847"/>
              <a:ext cx="420624" cy="420624"/>
            </a:xfrm>
            <a:prstGeom prst="rect">
              <a:avLst/>
            </a:prstGeom>
          </p:spPr>
        </p:pic>
      </p:grpSp>
      <p:sp>
        <p:nvSpPr>
          <p:cNvPr id="18" name="Rectangle 14">
            <a:extLst>
              <a:ext uri="{FF2B5EF4-FFF2-40B4-BE49-F238E27FC236}">
                <a16:creationId xmlns:a16="http://schemas.microsoft.com/office/drawing/2014/main" id="{C9D5D69B-11C7-04C1-905B-F4BA37AB989D}"/>
              </a:ext>
            </a:extLst>
          </p:cNvPr>
          <p:cNvSpPr>
            <a:spLocks noChangeArrowheads="1"/>
          </p:cNvSpPr>
          <p:nvPr/>
        </p:nvSpPr>
        <p:spPr bwMode="auto">
          <a:xfrm>
            <a:off x="1083733" y="193622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2358282" bIns="282486" numCol="1" anchor="ctr" anchorCtr="0" compatLnSpc="1">
            <a:prstTxWarp prst="textNoShape">
              <a:avLst/>
            </a:prstTxWarp>
            <a:spAutoFit/>
          </a:bodyPr>
          <a:lstStyle/>
          <a:p>
            <a:endParaRPr lang="en-IN"/>
          </a:p>
        </p:txBody>
      </p:sp>
      <p:grpSp>
        <p:nvGrpSpPr>
          <p:cNvPr id="20" name="Group 19">
            <a:extLst>
              <a:ext uri="{FF2B5EF4-FFF2-40B4-BE49-F238E27FC236}">
                <a16:creationId xmlns:a16="http://schemas.microsoft.com/office/drawing/2014/main" id="{546E043B-253A-0FE3-8054-5B71E2943D21}"/>
              </a:ext>
            </a:extLst>
          </p:cNvPr>
          <p:cNvGrpSpPr/>
          <p:nvPr/>
        </p:nvGrpSpPr>
        <p:grpSpPr>
          <a:xfrm>
            <a:off x="7747548" y="2196557"/>
            <a:ext cx="731520" cy="731520"/>
            <a:chOff x="0" y="0"/>
            <a:chExt cx="731520" cy="731520"/>
          </a:xfrm>
        </p:grpSpPr>
        <p:sp>
          <p:nvSpPr>
            <p:cNvPr id="21" name="Shape 230">
              <a:extLst>
                <a:ext uri="{FF2B5EF4-FFF2-40B4-BE49-F238E27FC236}">
                  <a16:creationId xmlns:a16="http://schemas.microsoft.com/office/drawing/2014/main" id="{54B548F0-734F-BEEF-6D20-F73A5A18A113}"/>
                </a:ext>
              </a:extLst>
            </p:cNvPr>
            <p:cNvSpPr/>
            <p:nvPr/>
          </p:nvSpPr>
          <p:spPr>
            <a:xfrm>
              <a:off x="0" y="0"/>
              <a:ext cx="731520" cy="731520"/>
            </a:xfrm>
            <a:custGeom>
              <a:avLst/>
              <a:gdLst/>
              <a:ahLst/>
              <a:cxnLst/>
              <a:rect l="0" t="0" r="0" b="0"/>
              <a:pathLst>
                <a:path w="731520" h="731520">
                  <a:moveTo>
                    <a:pt x="365760" y="0"/>
                  </a:moveTo>
                  <a:cubicBezTo>
                    <a:pt x="567817" y="0"/>
                    <a:pt x="731520" y="163703"/>
                    <a:pt x="731520" y="365760"/>
                  </a:cubicBezTo>
                  <a:cubicBezTo>
                    <a:pt x="731520" y="567817"/>
                    <a:pt x="567817" y="731520"/>
                    <a:pt x="365760" y="731520"/>
                  </a:cubicBezTo>
                  <a:cubicBezTo>
                    <a:pt x="163703" y="731520"/>
                    <a:pt x="0" y="567817"/>
                    <a:pt x="0" y="365760"/>
                  </a:cubicBezTo>
                  <a:cubicBezTo>
                    <a:pt x="0" y="163703"/>
                    <a:pt x="163703" y="0"/>
                    <a:pt x="365760" y="0"/>
                  </a:cubicBezTo>
                  <a:close/>
                </a:path>
              </a:pathLst>
            </a:custGeom>
            <a:ln w="0" cap="flat">
              <a:miter lim="127000"/>
            </a:ln>
          </p:spPr>
          <p:style>
            <a:lnRef idx="0">
              <a:srgbClr val="000000">
                <a:alpha val="0"/>
              </a:srgbClr>
            </a:lnRef>
            <a:fillRef idx="1">
              <a:srgbClr val="1C7293"/>
            </a:fillRef>
            <a:effectRef idx="0">
              <a:scrgbClr r="0" g="0" b="0"/>
            </a:effectRef>
            <a:fontRef idx="none"/>
          </p:style>
          <p:txBody>
            <a:bodyPr/>
            <a:lstStyle/>
            <a:p>
              <a:endParaRPr lang="en-IN"/>
            </a:p>
          </p:txBody>
        </p:sp>
        <p:pic>
          <p:nvPicPr>
            <p:cNvPr id="22" name="Picture 21">
              <a:extLst>
                <a:ext uri="{FF2B5EF4-FFF2-40B4-BE49-F238E27FC236}">
                  <a16:creationId xmlns:a16="http://schemas.microsoft.com/office/drawing/2014/main" id="{EC1D2DBE-F7E1-57B5-84BE-7A60774191C4}"/>
                </a:ext>
              </a:extLst>
            </p:cNvPr>
            <p:cNvPicPr/>
            <p:nvPr/>
          </p:nvPicPr>
          <p:blipFill>
            <a:blip r:embed="rId5"/>
            <a:stretch>
              <a:fillRect/>
            </a:stretch>
          </p:blipFill>
          <p:spPr>
            <a:xfrm>
              <a:off x="188976" y="201168"/>
              <a:ext cx="420624" cy="420624"/>
            </a:xfrm>
            <a:prstGeom prst="rect">
              <a:avLst/>
            </a:prstGeom>
          </p:spPr>
        </p:pic>
      </p:grpSp>
      <p:grpSp>
        <p:nvGrpSpPr>
          <p:cNvPr id="23" name="Group 22">
            <a:extLst>
              <a:ext uri="{FF2B5EF4-FFF2-40B4-BE49-F238E27FC236}">
                <a16:creationId xmlns:a16="http://schemas.microsoft.com/office/drawing/2014/main" id="{867E0B52-1706-52EA-ADBD-E9E8BB31CF77}"/>
              </a:ext>
            </a:extLst>
          </p:cNvPr>
          <p:cNvGrpSpPr/>
          <p:nvPr/>
        </p:nvGrpSpPr>
        <p:grpSpPr>
          <a:xfrm>
            <a:off x="9746679" y="2181904"/>
            <a:ext cx="731520" cy="731520"/>
            <a:chOff x="0" y="0"/>
            <a:chExt cx="731520" cy="731520"/>
          </a:xfrm>
        </p:grpSpPr>
        <p:sp>
          <p:nvSpPr>
            <p:cNvPr id="24" name="Shape 237">
              <a:extLst>
                <a:ext uri="{FF2B5EF4-FFF2-40B4-BE49-F238E27FC236}">
                  <a16:creationId xmlns:a16="http://schemas.microsoft.com/office/drawing/2014/main" id="{B65B10BE-1E01-0C70-2200-E43EBB1F6E9E}"/>
                </a:ext>
              </a:extLst>
            </p:cNvPr>
            <p:cNvSpPr/>
            <p:nvPr/>
          </p:nvSpPr>
          <p:spPr>
            <a:xfrm>
              <a:off x="0" y="0"/>
              <a:ext cx="731520" cy="731520"/>
            </a:xfrm>
            <a:custGeom>
              <a:avLst/>
              <a:gdLst/>
              <a:ahLst/>
              <a:cxnLst/>
              <a:rect l="0" t="0" r="0" b="0"/>
              <a:pathLst>
                <a:path w="731520" h="731520">
                  <a:moveTo>
                    <a:pt x="365760" y="0"/>
                  </a:moveTo>
                  <a:cubicBezTo>
                    <a:pt x="567817" y="0"/>
                    <a:pt x="731520" y="163703"/>
                    <a:pt x="731520" y="365760"/>
                  </a:cubicBezTo>
                  <a:cubicBezTo>
                    <a:pt x="731520" y="567817"/>
                    <a:pt x="567817" y="731520"/>
                    <a:pt x="365760" y="731520"/>
                  </a:cubicBezTo>
                  <a:cubicBezTo>
                    <a:pt x="163703" y="731520"/>
                    <a:pt x="0" y="567817"/>
                    <a:pt x="0" y="365760"/>
                  </a:cubicBezTo>
                  <a:cubicBezTo>
                    <a:pt x="0" y="163703"/>
                    <a:pt x="163703" y="0"/>
                    <a:pt x="365760" y="0"/>
                  </a:cubicBezTo>
                  <a:close/>
                </a:path>
              </a:pathLst>
            </a:custGeom>
            <a:ln w="0" cap="flat">
              <a:miter lim="127000"/>
            </a:ln>
          </p:spPr>
          <p:style>
            <a:lnRef idx="0">
              <a:srgbClr val="000000">
                <a:alpha val="0"/>
              </a:srgbClr>
            </a:lnRef>
            <a:fillRef idx="1">
              <a:srgbClr val="065A82"/>
            </a:fillRef>
            <a:effectRef idx="0">
              <a:scrgbClr r="0" g="0" b="0"/>
            </a:effectRef>
            <a:fontRef idx="none"/>
          </p:style>
          <p:txBody>
            <a:bodyPr/>
            <a:lstStyle/>
            <a:p>
              <a:endParaRPr lang="en-IN"/>
            </a:p>
          </p:txBody>
        </p:sp>
        <p:pic>
          <p:nvPicPr>
            <p:cNvPr id="25" name="Picture 24">
              <a:extLst>
                <a:ext uri="{FF2B5EF4-FFF2-40B4-BE49-F238E27FC236}">
                  <a16:creationId xmlns:a16="http://schemas.microsoft.com/office/drawing/2014/main" id="{3553EC83-9D91-9A28-E5B8-BBF188A7BEBC}"/>
                </a:ext>
              </a:extLst>
            </p:cNvPr>
            <p:cNvPicPr/>
            <p:nvPr/>
          </p:nvPicPr>
          <p:blipFill>
            <a:blip r:embed="rId6"/>
            <a:stretch>
              <a:fillRect/>
            </a:stretch>
          </p:blipFill>
          <p:spPr>
            <a:xfrm>
              <a:off x="155448" y="152400"/>
              <a:ext cx="420624" cy="420624"/>
            </a:xfrm>
            <a:prstGeom prst="rect">
              <a:avLst/>
            </a:prstGeom>
          </p:spPr>
        </p:pic>
      </p:grpSp>
      <p:sp>
        <p:nvSpPr>
          <p:cNvPr id="26" name="Rectangle 22">
            <a:extLst>
              <a:ext uri="{FF2B5EF4-FFF2-40B4-BE49-F238E27FC236}">
                <a16:creationId xmlns:a16="http://schemas.microsoft.com/office/drawing/2014/main" id="{6CB27576-56C2-EB93-4F1C-7A3502C9D09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2358282" bIns="282486" numCol="1" anchor="ctr" anchorCtr="0" compatLnSpc="1">
            <a:prstTxWarp prst="textNoShape">
              <a:avLst/>
            </a:prstTxWarp>
            <a:spAutoFit/>
          </a:bodyPr>
          <a:lstStyle/>
          <a:p>
            <a:endParaRPr lang="en-IN"/>
          </a:p>
        </p:txBody>
      </p:sp>
      <p:sp>
        <p:nvSpPr>
          <p:cNvPr id="27" name="Rectangle 23">
            <a:extLst>
              <a:ext uri="{FF2B5EF4-FFF2-40B4-BE49-F238E27FC236}">
                <a16:creationId xmlns:a16="http://schemas.microsoft.com/office/drawing/2014/main" id="{29395D8D-BA56-79A0-F014-3C555EE0BA35}"/>
              </a:ext>
            </a:extLst>
          </p:cNvPr>
          <p:cNvSpPr>
            <a:spLocks noChangeArrowheads="1"/>
          </p:cNvSpPr>
          <p:nvPr/>
        </p:nvSpPr>
        <p:spPr bwMode="auto">
          <a:xfrm>
            <a:off x="557999" y="100408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800" b="0" i="0" u="none" strike="noStrike" cap="none" normalizeH="0" baseline="0" dirty="0">
                <a:ln>
                  <a:noFill/>
                </a:ln>
                <a:solidFill>
                  <a:srgbClr val="FFFFFF"/>
                </a:solidFill>
                <a:effectLst/>
                <a:latin typeface="Arial" panose="020B0604020202020204" pitchFamily="34" charset="0"/>
                <a:ea typeface="Times New Roman" panose="02020603050405020304" pitchFamily="18" charset="0"/>
              </a:rPr>
            </a:br>
            <a:r>
              <a:rPr kumimoji="0" lang="en-US" altLang="en-US" sz="4400" b="1" i="0" u="none" strike="noStrike" cap="none" normalizeH="0" baseline="0" dirty="0">
                <a:ln>
                  <a:noFill/>
                </a:ln>
                <a:solidFill>
                  <a:srgbClr val="1B2733"/>
                </a:solidFill>
                <a:effectLst/>
                <a:latin typeface="Arial" panose="020B0604020202020204" pitchFamily="34" charset="0"/>
                <a:ea typeface="Times New Roman" panose="02020603050405020304" pitchFamily="18" charset="0"/>
              </a:rPr>
              <a:t>Industry Relevance</a:t>
            </a:r>
            <a:endParaRPr kumimoji="0" lang="en-US" altLang="en-US" sz="2800" b="0" i="0" u="none" strike="noStrike" cap="none" normalizeH="0" baseline="0" dirty="0">
              <a:ln>
                <a:noFill/>
              </a:ln>
              <a:solidFill>
                <a:srgbClr val="FFFFFF"/>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28" name="Group 27">
            <a:extLst>
              <a:ext uri="{FF2B5EF4-FFF2-40B4-BE49-F238E27FC236}">
                <a16:creationId xmlns:a16="http://schemas.microsoft.com/office/drawing/2014/main" id="{571FB10D-B8D0-89D7-5FE4-EA3296A7EA82}"/>
              </a:ext>
            </a:extLst>
          </p:cNvPr>
          <p:cNvGrpSpPr/>
          <p:nvPr/>
        </p:nvGrpSpPr>
        <p:grpSpPr>
          <a:xfrm>
            <a:off x="8869680" y="0"/>
            <a:ext cx="3322320" cy="3200400"/>
            <a:chOff x="0" y="0"/>
            <a:chExt cx="3322320" cy="3200400"/>
          </a:xfrm>
        </p:grpSpPr>
        <p:sp>
          <p:nvSpPr>
            <p:cNvPr id="29" name="Shape 7">
              <a:extLst>
                <a:ext uri="{FF2B5EF4-FFF2-40B4-BE49-F238E27FC236}">
                  <a16:creationId xmlns:a16="http://schemas.microsoft.com/office/drawing/2014/main" id="{FC934D14-88CC-C230-0D5A-B141E2ADF6EF}"/>
                </a:ext>
              </a:extLst>
            </p:cNvPr>
            <p:cNvSpPr/>
            <p:nvPr/>
          </p:nvSpPr>
          <p:spPr>
            <a:xfrm>
              <a:off x="0" y="0"/>
              <a:ext cx="3322320" cy="3200400"/>
            </a:xfrm>
            <a:custGeom>
              <a:avLst/>
              <a:gdLst/>
              <a:ahLst/>
              <a:cxnLst/>
              <a:rect l="0" t="0" r="0" b="0"/>
              <a:pathLst>
                <a:path w="3322320" h="3200400">
                  <a:moveTo>
                    <a:pt x="190766" y="0"/>
                  </a:moveTo>
                  <a:lnTo>
                    <a:pt x="3322320" y="0"/>
                  </a:lnTo>
                  <a:lnTo>
                    <a:pt x="3322320" y="2951797"/>
                  </a:lnTo>
                  <a:lnTo>
                    <a:pt x="3277068" y="2974973"/>
                  </a:lnTo>
                  <a:cubicBezTo>
                    <a:pt x="2977254" y="3119440"/>
                    <a:pt x="2641080" y="3200400"/>
                    <a:pt x="2286000" y="3200400"/>
                  </a:cubicBezTo>
                  <a:cubicBezTo>
                    <a:pt x="1023493" y="3200400"/>
                    <a:pt x="0" y="2176907"/>
                    <a:pt x="0" y="914400"/>
                  </a:cubicBezTo>
                  <a:cubicBezTo>
                    <a:pt x="0" y="598773"/>
                    <a:pt x="63968" y="298085"/>
                    <a:pt x="179647" y="24593"/>
                  </a:cubicBezTo>
                  <a:lnTo>
                    <a:pt x="190766" y="0"/>
                  </a:lnTo>
                  <a:close/>
                </a:path>
              </a:pathLst>
            </a:custGeom>
            <a:ln w="0" cap="flat">
              <a:miter lim="127000"/>
            </a:ln>
          </p:spPr>
          <p:style>
            <a:lnRef idx="0">
              <a:srgbClr val="000000">
                <a:alpha val="0"/>
              </a:srgbClr>
            </a:lnRef>
            <a:fillRef idx="1">
              <a:srgbClr val="065A82">
                <a:alpha val="45098"/>
              </a:srgbClr>
            </a:fillRef>
            <a:effectRef idx="0">
              <a:scrgbClr r="0" g="0" b="0"/>
            </a:effectRef>
            <a:fontRef idx="none"/>
          </p:style>
          <p:txBody>
            <a:bodyPr/>
            <a:lstStyle/>
            <a:p>
              <a:endParaRPr lang="en-IN"/>
            </a:p>
          </p:txBody>
        </p:sp>
      </p:grpSp>
      <p:grpSp>
        <p:nvGrpSpPr>
          <p:cNvPr id="30" name="Group 29">
            <a:extLst>
              <a:ext uri="{FF2B5EF4-FFF2-40B4-BE49-F238E27FC236}">
                <a16:creationId xmlns:a16="http://schemas.microsoft.com/office/drawing/2014/main" id="{70C9DCCD-3156-5BD8-691C-CF52525B7D16}"/>
              </a:ext>
            </a:extLst>
          </p:cNvPr>
          <p:cNvGrpSpPr/>
          <p:nvPr/>
        </p:nvGrpSpPr>
        <p:grpSpPr>
          <a:xfrm>
            <a:off x="10515600" y="3840480"/>
            <a:ext cx="1676400" cy="2925445"/>
            <a:chOff x="0" y="0"/>
            <a:chExt cx="1676400" cy="2926079"/>
          </a:xfrm>
        </p:grpSpPr>
        <p:sp>
          <p:nvSpPr>
            <p:cNvPr id="31" name="Shape 8">
              <a:extLst>
                <a:ext uri="{FF2B5EF4-FFF2-40B4-BE49-F238E27FC236}">
                  <a16:creationId xmlns:a16="http://schemas.microsoft.com/office/drawing/2014/main" id="{E635B87A-589A-C406-6FA0-58BD5621A1D7}"/>
                </a:ext>
              </a:extLst>
            </p:cNvPr>
            <p:cNvSpPr/>
            <p:nvPr/>
          </p:nvSpPr>
          <p:spPr>
            <a:xfrm>
              <a:off x="0" y="0"/>
              <a:ext cx="1676400" cy="2926079"/>
            </a:xfrm>
            <a:custGeom>
              <a:avLst/>
              <a:gdLst/>
              <a:ahLst/>
              <a:cxnLst/>
              <a:rect l="0" t="0" r="0" b="0"/>
              <a:pathLst>
                <a:path w="1676400" h="2926079">
                  <a:moveTo>
                    <a:pt x="1463040" y="0"/>
                  </a:moveTo>
                  <a:cubicBezTo>
                    <a:pt x="1513539" y="0"/>
                    <a:pt x="1563440" y="2559"/>
                    <a:pt x="1612621" y="7554"/>
                  </a:cubicBezTo>
                  <a:lnTo>
                    <a:pt x="1676400" y="17289"/>
                  </a:lnTo>
                  <a:lnTo>
                    <a:pt x="1676400" y="2908791"/>
                  </a:lnTo>
                  <a:lnTo>
                    <a:pt x="1612621" y="2918525"/>
                  </a:lnTo>
                  <a:cubicBezTo>
                    <a:pt x="1563440" y="2923521"/>
                    <a:pt x="1513539" y="2926079"/>
                    <a:pt x="1463040" y="2926079"/>
                  </a:cubicBezTo>
                  <a:cubicBezTo>
                    <a:pt x="655066" y="2926079"/>
                    <a:pt x="0" y="2271052"/>
                    <a:pt x="0" y="1463040"/>
                  </a:cubicBezTo>
                  <a:cubicBezTo>
                    <a:pt x="0" y="655066"/>
                    <a:pt x="655066" y="0"/>
                    <a:pt x="1463040" y="0"/>
                  </a:cubicBezTo>
                  <a:close/>
                </a:path>
              </a:pathLst>
            </a:custGeom>
            <a:ln w="0" cap="flat">
              <a:miter lim="127000"/>
            </a:ln>
          </p:spPr>
          <p:style>
            <a:lnRef idx="0">
              <a:srgbClr val="000000">
                <a:alpha val="0"/>
              </a:srgbClr>
            </a:lnRef>
            <a:fillRef idx="1">
              <a:srgbClr val="1C7293">
                <a:alpha val="45098"/>
              </a:srgbClr>
            </a:fillRef>
            <a:effectRef idx="0">
              <a:scrgbClr r="0" g="0" b="0"/>
            </a:effectRef>
            <a:fontRef idx="none"/>
          </p:style>
          <p:txBody>
            <a:bodyPr/>
            <a:lstStyle/>
            <a:p>
              <a:endParaRPr lang="en-IN"/>
            </a:p>
          </p:txBody>
        </p:sp>
      </p:grpSp>
      <p:sp>
        <p:nvSpPr>
          <p:cNvPr id="32" name="Rectangle 28">
            <a:extLst>
              <a:ext uri="{FF2B5EF4-FFF2-40B4-BE49-F238E27FC236}">
                <a16:creationId xmlns:a16="http://schemas.microsoft.com/office/drawing/2014/main" id="{A697CBB9-9EEB-B192-0CCE-77B887ABBBD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2358282" bIns="282486"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018400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E1815-119C-AB19-169A-886C5F3DE120}"/>
              </a:ext>
            </a:extLst>
          </p:cNvPr>
          <p:cNvSpPr>
            <a:spLocks noGrp="1"/>
          </p:cNvSpPr>
          <p:nvPr>
            <p:ph type="title"/>
          </p:nvPr>
        </p:nvSpPr>
        <p:spPr>
          <a:xfrm>
            <a:off x="736600" y="365125"/>
            <a:ext cx="10515600" cy="1325563"/>
          </a:xfrm>
        </p:spPr>
        <p:txBody>
          <a:bodyPr/>
          <a:lstStyle/>
          <a:p>
            <a:r>
              <a:rPr lang="en-IN" b="1" dirty="0">
                <a:latin typeface="Times New Roman" panose="02020603050405020304" pitchFamily="18" charset="0"/>
                <a:cs typeface="Times New Roman" panose="02020603050405020304" pitchFamily="18" charset="0"/>
              </a:rPr>
              <a:t>Netflix Container Deployment</a:t>
            </a:r>
          </a:p>
        </p:txBody>
      </p:sp>
      <p:sp>
        <p:nvSpPr>
          <p:cNvPr id="3" name="Content Placeholder 2">
            <a:extLst>
              <a:ext uri="{FF2B5EF4-FFF2-40B4-BE49-F238E27FC236}">
                <a16:creationId xmlns:a16="http://schemas.microsoft.com/office/drawing/2014/main" id="{D5B0B642-9D3F-1891-1F6F-E52C58BEA9F3}"/>
              </a:ext>
            </a:extLst>
          </p:cNvPr>
          <p:cNvSpPr>
            <a:spLocks noGrp="1"/>
          </p:cNvSpPr>
          <p:nvPr>
            <p:ph idx="1"/>
          </p:nvPr>
        </p:nvSpPr>
        <p:spPr/>
        <p:txBody>
          <a:bodyPr>
            <a:normAutofit fontScale="55000" lnSpcReduction="20000"/>
          </a:bodyPr>
          <a:lstStyle/>
          <a:p>
            <a:pPr marL="0" indent="0">
              <a:buNone/>
            </a:pPr>
            <a:r>
              <a:rPr lang="en-IN" sz="3200" b="1" dirty="0">
                <a:latin typeface="Times New Roman" panose="02020603050405020304" pitchFamily="18" charset="0"/>
                <a:cs typeface="Times New Roman" panose="02020603050405020304" pitchFamily="18" charset="0"/>
              </a:rPr>
              <a:t>Problem</a:t>
            </a:r>
          </a:p>
          <a:p>
            <a:r>
              <a:rPr lang="en-IN" sz="3200" dirty="0">
                <a:latin typeface="Times New Roman" panose="02020603050405020304" pitchFamily="18" charset="0"/>
                <a:cs typeface="Times New Roman" panose="02020603050405020304" pitchFamily="18" charset="0"/>
              </a:rPr>
              <a:t>Millions of users watch movies simultaneously during weekends and holidays.</a:t>
            </a:r>
          </a:p>
          <a:p>
            <a:pPr marL="0" indent="0">
              <a:buNone/>
            </a:pPr>
            <a:r>
              <a:rPr lang="en-IN" sz="3200" b="1" dirty="0">
                <a:latin typeface="Times New Roman" panose="02020603050405020304" pitchFamily="18" charset="0"/>
                <a:cs typeface="Times New Roman" panose="02020603050405020304" pitchFamily="18" charset="0"/>
              </a:rPr>
              <a:t>Solution</a:t>
            </a:r>
          </a:p>
          <a:p>
            <a:r>
              <a:rPr lang="en-IN" sz="3200" dirty="0">
                <a:latin typeface="Times New Roman" panose="02020603050405020304" pitchFamily="18" charset="0"/>
                <a:cs typeface="Times New Roman" panose="02020603050405020304" pitchFamily="18" charset="0"/>
              </a:rPr>
              <a:t>Netflix packages its applications into Docker containers.</a:t>
            </a:r>
          </a:p>
          <a:p>
            <a:r>
              <a:rPr lang="en-IN" sz="3200" dirty="0">
                <a:latin typeface="Times New Roman" panose="02020603050405020304" pitchFamily="18" charset="0"/>
                <a:cs typeface="Times New Roman" panose="02020603050405020304" pitchFamily="18" charset="0"/>
              </a:rPr>
              <a:t>Kubernetes automatically:</a:t>
            </a:r>
          </a:p>
          <a:p>
            <a:r>
              <a:rPr lang="en-IN" sz="3200" dirty="0">
                <a:latin typeface="Times New Roman" panose="02020603050405020304" pitchFamily="18" charset="0"/>
                <a:cs typeface="Times New Roman" panose="02020603050405020304" pitchFamily="18" charset="0"/>
              </a:rPr>
              <a:t>Creates additional containers during heavy traffic. </a:t>
            </a:r>
          </a:p>
          <a:p>
            <a:r>
              <a:rPr lang="en-IN" sz="3200" dirty="0">
                <a:latin typeface="Times New Roman" panose="02020603050405020304" pitchFamily="18" charset="0"/>
                <a:cs typeface="Times New Roman" panose="02020603050405020304" pitchFamily="18" charset="0"/>
              </a:rPr>
              <a:t>Removes unnecessary containers when traffic decreases. </a:t>
            </a:r>
          </a:p>
          <a:p>
            <a:r>
              <a:rPr lang="en-IN" sz="3200" dirty="0">
                <a:latin typeface="Times New Roman" panose="02020603050405020304" pitchFamily="18" charset="0"/>
                <a:cs typeface="Times New Roman" panose="02020603050405020304" pitchFamily="18" charset="0"/>
              </a:rPr>
              <a:t>Maintains uninterrupted streaming. </a:t>
            </a:r>
          </a:p>
          <a:p>
            <a:pPr marL="0" indent="0">
              <a:buNone/>
            </a:pPr>
            <a:r>
              <a:rPr lang="en-IN" sz="3200" b="1" dirty="0">
                <a:latin typeface="Times New Roman" panose="02020603050405020304" pitchFamily="18" charset="0"/>
                <a:cs typeface="Times New Roman" panose="02020603050405020304" pitchFamily="18" charset="0"/>
              </a:rPr>
              <a:t>Result</a:t>
            </a:r>
          </a:p>
          <a:p>
            <a:r>
              <a:rPr lang="en-IN" sz="3200" dirty="0">
                <a:latin typeface="Times New Roman" panose="02020603050405020304" pitchFamily="18" charset="0"/>
                <a:cs typeface="Times New Roman" panose="02020603050405020304" pitchFamily="18" charset="0"/>
              </a:rPr>
              <a:t>High scalability </a:t>
            </a:r>
          </a:p>
          <a:p>
            <a:r>
              <a:rPr lang="en-IN" sz="3200" dirty="0">
                <a:latin typeface="Times New Roman" panose="02020603050405020304" pitchFamily="18" charset="0"/>
                <a:cs typeface="Times New Roman" panose="02020603050405020304" pitchFamily="18" charset="0"/>
              </a:rPr>
              <a:t>Reduced downtime </a:t>
            </a:r>
          </a:p>
          <a:p>
            <a:r>
              <a:rPr lang="en-IN" sz="3200" dirty="0">
                <a:latin typeface="Times New Roman" panose="02020603050405020304" pitchFamily="18" charset="0"/>
                <a:cs typeface="Times New Roman" panose="02020603050405020304" pitchFamily="18" charset="0"/>
              </a:rPr>
              <a:t>Better user experience </a:t>
            </a:r>
          </a:p>
          <a:p>
            <a:r>
              <a:rPr lang="en-IN" sz="3200" dirty="0">
                <a:latin typeface="Times New Roman" panose="02020603050405020304" pitchFamily="18" charset="0"/>
                <a:cs typeface="Times New Roman" panose="02020603050405020304" pitchFamily="18" charset="0"/>
              </a:rPr>
              <a:t>Lower operational cost </a:t>
            </a:r>
          </a:p>
          <a:p>
            <a:endParaRPr lang="en-IN" dirty="0"/>
          </a:p>
        </p:txBody>
      </p:sp>
      <p:grpSp>
        <p:nvGrpSpPr>
          <p:cNvPr id="4" name="Group 3">
            <a:extLst>
              <a:ext uri="{FF2B5EF4-FFF2-40B4-BE49-F238E27FC236}">
                <a16:creationId xmlns:a16="http://schemas.microsoft.com/office/drawing/2014/main" id="{7AD4CA1C-B268-5F3B-8C07-35B8E32FA46E}"/>
              </a:ext>
            </a:extLst>
          </p:cNvPr>
          <p:cNvGrpSpPr/>
          <p:nvPr/>
        </p:nvGrpSpPr>
        <p:grpSpPr>
          <a:xfrm>
            <a:off x="8869680" y="0"/>
            <a:ext cx="3322320" cy="3200400"/>
            <a:chOff x="101600" y="0"/>
            <a:chExt cx="3322320" cy="3200400"/>
          </a:xfrm>
        </p:grpSpPr>
        <p:sp>
          <p:nvSpPr>
            <p:cNvPr id="5" name="Shape 7">
              <a:extLst>
                <a:ext uri="{FF2B5EF4-FFF2-40B4-BE49-F238E27FC236}">
                  <a16:creationId xmlns:a16="http://schemas.microsoft.com/office/drawing/2014/main" id="{EEE21FDA-8115-BC12-22D0-5A5F519D4338}"/>
                </a:ext>
              </a:extLst>
            </p:cNvPr>
            <p:cNvSpPr/>
            <p:nvPr/>
          </p:nvSpPr>
          <p:spPr>
            <a:xfrm>
              <a:off x="101600" y="0"/>
              <a:ext cx="3322320" cy="3200400"/>
            </a:xfrm>
            <a:custGeom>
              <a:avLst/>
              <a:gdLst/>
              <a:ahLst/>
              <a:cxnLst/>
              <a:rect l="0" t="0" r="0" b="0"/>
              <a:pathLst>
                <a:path w="3322320" h="3200400">
                  <a:moveTo>
                    <a:pt x="190766" y="0"/>
                  </a:moveTo>
                  <a:lnTo>
                    <a:pt x="3322320" y="0"/>
                  </a:lnTo>
                  <a:lnTo>
                    <a:pt x="3322320" y="2951797"/>
                  </a:lnTo>
                  <a:lnTo>
                    <a:pt x="3277068" y="2974973"/>
                  </a:lnTo>
                  <a:cubicBezTo>
                    <a:pt x="2977254" y="3119440"/>
                    <a:pt x="2641080" y="3200400"/>
                    <a:pt x="2286000" y="3200400"/>
                  </a:cubicBezTo>
                  <a:cubicBezTo>
                    <a:pt x="1023493" y="3200400"/>
                    <a:pt x="0" y="2176907"/>
                    <a:pt x="0" y="914400"/>
                  </a:cubicBezTo>
                  <a:cubicBezTo>
                    <a:pt x="0" y="598773"/>
                    <a:pt x="63968" y="298085"/>
                    <a:pt x="179647" y="24593"/>
                  </a:cubicBezTo>
                  <a:lnTo>
                    <a:pt x="190766" y="0"/>
                  </a:lnTo>
                  <a:close/>
                </a:path>
              </a:pathLst>
            </a:custGeom>
            <a:ln w="0" cap="flat">
              <a:miter lim="127000"/>
            </a:ln>
          </p:spPr>
          <p:style>
            <a:lnRef idx="0">
              <a:srgbClr val="000000">
                <a:alpha val="0"/>
              </a:srgbClr>
            </a:lnRef>
            <a:fillRef idx="1">
              <a:srgbClr val="065A82">
                <a:alpha val="45098"/>
              </a:srgbClr>
            </a:fillRef>
            <a:effectRef idx="0">
              <a:scrgbClr r="0" g="0" b="0"/>
            </a:effectRef>
            <a:fontRef idx="none"/>
          </p:style>
          <p:txBody>
            <a:bodyPr/>
            <a:lstStyle/>
            <a:p>
              <a:endParaRPr lang="en-IN" dirty="0"/>
            </a:p>
          </p:txBody>
        </p:sp>
      </p:grpSp>
      <p:grpSp>
        <p:nvGrpSpPr>
          <p:cNvPr id="6" name="Group 5">
            <a:extLst>
              <a:ext uri="{FF2B5EF4-FFF2-40B4-BE49-F238E27FC236}">
                <a16:creationId xmlns:a16="http://schemas.microsoft.com/office/drawing/2014/main" id="{5242486E-F901-4279-B0F8-4286391ECBD0}"/>
              </a:ext>
            </a:extLst>
          </p:cNvPr>
          <p:cNvGrpSpPr/>
          <p:nvPr/>
        </p:nvGrpSpPr>
        <p:grpSpPr>
          <a:xfrm>
            <a:off x="10530840" y="3932555"/>
            <a:ext cx="1676400" cy="2925445"/>
            <a:chOff x="116840" y="92095"/>
            <a:chExt cx="1676400" cy="2926079"/>
          </a:xfrm>
        </p:grpSpPr>
        <p:sp>
          <p:nvSpPr>
            <p:cNvPr id="7" name="Shape 8">
              <a:extLst>
                <a:ext uri="{FF2B5EF4-FFF2-40B4-BE49-F238E27FC236}">
                  <a16:creationId xmlns:a16="http://schemas.microsoft.com/office/drawing/2014/main" id="{22B2E2A4-3803-79F2-55DB-0D7BDF7FDA7B}"/>
                </a:ext>
              </a:extLst>
            </p:cNvPr>
            <p:cNvSpPr/>
            <p:nvPr/>
          </p:nvSpPr>
          <p:spPr>
            <a:xfrm>
              <a:off x="116840" y="92095"/>
              <a:ext cx="1676400" cy="2926079"/>
            </a:xfrm>
            <a:custGeom>
              <a:avLst/>
              <a:gdLst/>
              <a:ahLst/>
              <a:cxnLst/>
              <a:rect l="0" t="0" r="0" b="0"/>
              <a:pathLst>
                <a:path w="1676400" h="2926079">
                  <a:moveTo>
                    <a:pt x="1463040" y="0"/>
                  </a:moveTo>
                  <a:cubicBezTo>
                    <a:pt x="1513539" y="0"/>
                    <a:pt x="1563440" y="2559"/>
                    <a:pt x="1612621" y="7554"/>
                  </a:cubicBezTo>
                  <a:lnTo>
                    <a:pt x="1676400" y="17289"/>
                  </a:lnTo>
                  <a:lnTo>
                    <a:pt x="1676400" y="2908791"/>
                  </a:lnTo>
                  <a:lnTo>
                    <a:pt x="1612621" y="2918525"/>
                  </a:lnTo>
                  <a:cubicBezTo>
                    <a:pt x="1563440" y="2923521"/>
                    <a:pt x="1513539" y="2926079"/>
                    <a:pt x="1463040" y="2926079"/>
                  </a:cubicBezTo>
                  <a:cubicBezTo>
                    <a:pt x="655066" y="2926079"/>
                    <a:pt x="0" y="2271052"/>
                    <a:pt x="0" y="1463040"/>
                  </a:cubicBezTo>
                  <a:cubicBezTo>
                    <a:pt x="0" y="655066"/>
                    <a:pt x="655066" y="0"/>
                    <a:pt x="1463040" y="0"/>
                  </a:cubicBezTo>
                  <a:close/>
                </a:path>
              </a:pathLst>
            </a:custGeom>
            <a:ln w="0" cap="flat">
              <a:miter lim="127000"/>
            </a:ln>
          </p:spPr>
          <p:style>
            <a:lnRef idx="0">
              <a:srgbClr val="000000">
                <a:alpha val="0"/>
              </a:srgbClr>
            </a:lnRef>
            <a:fillRef idx="1">
              <a:srgbClr val="1C7293">
                <a:alpha val="45098"/>
              </a:srgbClr>
            </a:fillRef>
            <a:effectRef idx="0">
              <a:scrgbClr r="0" g="0" b="0"/>
            </a:effectRef>
            <a:fontRef idx="none"/>
          </p:style>
          <p:txBody>
            <a:bodyPr/>
            <a:lstStyle/>
            <a:p>
              <a:endParaRPr lang="en-IN" dirty="0"/>
            </a:p>
          </p:txBody>
        </p:sp>
      </p:grpSp>
      <p:sp>
        <p:nvSpPr>
          <p:cNvPr id="8" name="Rectangle 5">
            <a:extLst>
              <a:ext uri="{FF2B5EF4-FFF2-40B4-BE49-F238E27FC236}">
                <a16:creationId xmlns:a16="http://schemas.microsoft.com/office/drawing/2014/main" id="{B8215759-7C56-FDFE-93EB-581FCC9BA6E3}"/>
              </a:ext>
            </a:extLst>
          </p:cNvPr>
          <p:cNvSpPr>
            <a:spLocks noChangeArrowheads="1"/>
          </p:cNvSpPr>
          <p:nvPr/>
        </p:nvSpPr>
        <p:spPr bwMode="auto">
          <a:xfrm>
            <a:off x="-10160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2358282" bIns="282486"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327068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F7BCD-3242-7ED1-37C3-8DE813223B7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Limitations and Future Scope</a:t>
            </a:r>
          </a:p>
        </p:txBody>
      </p:sp>
      <p:sp>
        <p:nvSpPr>
          <p:cNvPr id="3" name="Content Placeholder 2">
            <a:extLst>
              <a:ext uri="{FF2B5EF4-FFF2-40B4-BE49-F238E27FC236}">
                <a16:creationId xmlns:a16="http://schemas.microsoft.com/office/drawing/2014/main" id="{70CED4CC-7B45-F3D9-D3C4-9B4A3125FC18}"/>
              </a:ext>
            </a:extLst>
          </p:cNvPr>
          <p:cNvSpPr>
            <a:spLocks noGrp="1"/>
          </p:cNvSpPr>
          <p:nvPr>
            <p:ph idx="1"/>
          </p:nvPr>
        </p:nvSpPr>
        <p:spPr>
          <a:xfrm>
            <a:off x="745067" y="2055813"/>
            <a:ext cx="5494867" cy="3804708"/>
          </a:xfrm>
        </p:spPr>
        <p:txBody>
          <a:bodyPr/>
          <a:lstStyle/>
          <a:p>
            <a:pPr marL="0" indent="0">
              <a:buNone/>
            </a:pPr>
            <a:r>
              <a:rPr lang="en-IN" sz="2400" b="1" dirty="0">
                <a:latin typeface="Times New Roman" panose="02020603050405020304" pitchFamily="18" charset="0"/>
                <a:cs typeface="Times New Roman" panose="02020603050405020304" pitchFamily="18" charset="0"/>
              </a:rPr>
              <a:t>Limitations</a:t>
            </a:r>
          </a:p>
          <a:p>
            <a:r>
              <a:rPr lang="en-IN" sz="2400" dirty="0">
                <a:latin typeface="Times New Roman" panose="02020603050405020304" pitchFamily="18" charset="0"/>
                <a:cs typeface="Times New Roman" panose="02020603050405020304" pitchFamily="18" charset="0"/>
              </a:rPr>
              <a:t>Security vulnerabilities </a:t>
            </a:r>
          </a:p>
          <a:p>
            <a:r>
              <a:rPr lang="en-IN" sz="2400" dirty="0">
                <a:latin typeface="Times New Roman" panose="02020603050405020304" pitchFamily="18" charset="0"/>
                <a:cs typeface="Times New Roman" panose="02020603050405020304" pitchFamily="18" charset="0"/>
              </a:rPr>
              <a:t>Kubernetes complexity </a:t>
            </a:r>
          </a:p>
          <a:p>
            <a:r>
              <a:rPr lang="en-IN" sz="2400" dirty="0">
                <a:latin typeface="Times New Roman" panose="02020603050405020304" pitchFamily="18" charset="0"/>
                <a:cs typeface="Times New Roman" panose="02020603050405020304" pitchFamily="18" charset="0"/>
              </a:rPr>
              <a:t>Monitoring multiple containers </a:t>
            </a:r>
          </a:p>
          <a:p>
            <a:r>
              <a:rPr lang="en-IN" sz="2400" dirty="0">
                <a:latin typeface="Times New Roman" panose="02020603050405020304" pitchFamily="18" charset="0"/>
                <a:cs typeface="Times New Roman" panose="02020603050405020304" pitchFamily="18" charset="0"/>
              </a:rPr>
              <a:t>Persistent storage challenges </a:t>
            </a:r>
          </a:p>
          <a:p>
            <a:r>
              <a:rPr lang="en-IN" sz="2400" dirty="0">
                <a:latin typeface="Times New Roman" panose="02020603050405020304" pitchFamily="18" charset="0"/>
                <a:cs typeface="Times New Roman" panose="02020603050405020304" pitchFamily="18" charset="0"/>
              </a:rPr>
              <a:t>Learning curve for beginners </a:t>
            </a:r>
          </a:p>
          <a:p>
            <a:endParaRPr lang="en-IN" dirty="0"/>
          </a:p>
        </p:txBody>
      </p:sp>
      <p:grpSp>
        <p:nvGrpSpPr>
          <p:cNvPr id="4" name="Group 3">
            <a:extLst>
              <a:ext uri="{FF2B5EF4-FFF2-40B4-BE49-F238E27FC236}">
                <a16:creationId xmlns:a16="http://schemas.microsoft.com/office/drawing/2014/main" id="{B96A5211-70BA-FDCF-C018-CE6352F9A6D8}"/>
              </a:ext>
            </a:extLst>
          </p:cNvPr>
          <p:cNvGrpSpPr/>
          <p:nvPr/>
        </p:nvGrpSpPr>
        <p:grpSpPr>
          <a:xfrm>
            <a:off x="8869680" y="0"/>
            <a:ext cx="3322320" cy="3200400"/>
            <a:chOff x="0" y="0"/>
            <a:chExt cx="3322320" cy="3200400"/>
          </a:xfrm>
        </p:grpSpPr>
        <p:sp>
          <p:nvSpPr>
            <p:cNvPr id="5" name="Shape 7">
              <a:extLst>
                <a:ext uri="{FF2B5EF4-FFF2-40B4-BE49-F238E27FC236}">
                  <a16:creationId xmlns:a16="http://schemas.microsoft.com/office/drawing/2014/main" id="{3F03257E-A7C2-C425-D031-EBDAA9FB503E}"/>
                </a:ext>
              </a:extLst>
            </p:cNvPr>
            <p:cNvSpPr/>
            <p:nvPr/>
          </p:nvSpPr>
          <p:spPr>
            <a:xfrm>
              <a:off x="0" y="0"/>
              <a:ext cx="3322320" cy="3200400"/>
            </a:xfrm>
            <a:custGeom>
              <a:avLst/>
              <a:gdLst/>
              <a:ahLst/>
              <a:cxnLst/>
              <a:rect l="0" t="0" r="0" b="0"/>
              <a:pathLst>
                <a:path w="3322320" h="3200400">
                  <a:moveTo>
                    <a:pt x="190766" y="0"/>
                  </a:moveTo>
                  <a:lnTo>
                    <a:pt x="3322320" y="0"/>
                  </a:lnTo>
                  <a:lnTo>
                    <a:pt x="3322320" y="2951797"/>
                  </a:lnTo>
                  <a:lnTo>
                    <a:pt x="3277068" y="2974973"/>
                  </a:lnTo>
                  <a:cubicBezTo>
                    <a:pt x="2977254" y="3119440"/>
                    <a:pt x="2641080" y="3200400"/>
                    <a:pt x="2286000" y="3200400"/>
                  </a:cubicBezTo>
                  <a:cubicBezTo>
                    <a:pt x="1023493" y="3200400"/>
                    <a:pt x="0" y="2176907"/>
                    <a:pt x="0" y="914400"/>
                  </a:cubicBezTo>
                  <a:cubicBezTo>
                    <a:pt x="0" y="598773"/>
                    <a:pt x="63968" y="298085"/>
                    <a:pt x="179647" y="24593"/>
                  </a:cubicBezTo>
                  <a:lnTo>
                    <a:pt x="190766" y="0"/>
                  </a:lnTo>
                  <a:close/>
                </a:path>
              </a:pathLst>
            </a:custGeom>
            <a:ln w="0" cap="flat">
              <a:miter lim="127000"/>
            </a:ln>
          </p:spPr>
          <p:style>
            <a:lnRef idx="0">
              <a:srgbClr val="000000">
                <a:alpha val="0"/>
              </a:srgbClr>
            </a:lnRef>
            <a:fillRef idx="1">
              <a:srgbClr val="065A82">
                <a:alpha val="45098"/>
              </a:srgbClr>
            </a:fillRef>
            <a:effectRef idx="0">
              <a:scrgbClr r="0" g="0" b="0"/>
            </a:effectRef>
            <a:fontRef idx="none"/>
          </p:style>
          <p:txBody>
            <a:bodyPr/>
            <a:lstStyle/>
            <a:p>
              <a:endParaRPr lang="en-IN"/>
            </a:p>
          </p:txBody>
        </p:sp>
      </p:grpSp>
      <p:grpSp>
        <p:nvGrpSpPr>
          <p:cNvPr id="6" name="Group 5">
            <a:extLst>
              <a:ext uri="{FF2B5EF4-FFF2-40B4-BE49-F238E27FC236}">
                <a16:creationId xmlns:a16="http://schemas.microsoft.com/office/drawing/2014/main" id="{880DBA92-711D-D0D5-29FE-92E8D1976519}"/>
              </a:ext>
            </a:extLst>
          </p:cNvPr>
          <p:cNvGrpSpPr/>
          <p:nvPr/>
        </p:nvGrpSpPr>
        <p:grpSpPr>
          <a:xfrm>
            <a:off x="10515600" y="3840480"/>
            <a:ext cx="1676400" cy="2925445"/>
            <a:chOff x="0" y="0"/>
            <a:chExt cx="1676400" cy="2926079"/>
          </a:xfrm>
        </p:grpSpPr>
        <p:sp>
          <p:nvSpPr>
            <p:cNvPr id="7" name="Shape 8">
              <a:extLst>
                <a:ext uri="{FF2B5EF4-FFF2-40B4-BE49-F238E27FC236}">
                  <a16:creationId xmlns:a16="http://schemas.microsoft.com/office/drawing/2014/main" id="{94CA44CE-131E-3EFD-2047-81E2CDDB0875}"/>
                </a:ext>
              </a:extLst>
            </p:cNvPr>
            <p:cNvSpPr/>
            <p:nvPr/>
          </p:nvSpPr>
          <p:spPr>
            <a:xfrm>
              <a:off x="0" y="0"/>
              <a:ext cx="1676400" cy="2926079"/>
            </a:xfrm>
            <a:custGeom>
              <a:avLst/>
              <a:gdLst/>
              <a:ahLst/>
              <a:cxnLst/>
              <a:rect l="0" t="0" r="0" b="0"/>
              <a:pathLst>
                <a:path w="1676400" h="2926079">
                  <a:moveTo>
                    <a:pt x="1463040" y="0"/>
                  </a:moveTo>
                  <a:cubicBezTo>
                    <a:pt x="1513539" y="0"/>
                    <a:pt x="1563440" y="2559"/>
                    <a:pt x="1612621" y="7554"/>
                  </a:cubicBezTo>
                  <a:lnTo>
                    <a:pt x="1676400" y="17289"/>
                  </a:lnTo>
                  <a:lnTo>
                    <a:pt x="1676400" y="2908791"/>
                  </a:lnTo>
                  <a:lnTo>
                    <a:pt x="1612621" y="2918525"/>
                  </a:lnTo>
                  <a:cubicBezTo>
                    <a:pt x="1563440" y="2923521"/>
                    <a:pt x="1513539" y="2926079"/>
                    <a:pt x="1463040" y="2926079"/>
                  </a:cubicBezTo>
                  <a:cubicBezTo>
                    <a:pt x="655066" y="2926079"/>
                    <a:pt x="0" y="2271052"/>
                    <a:pt x="0" y="1463040"/>
                  </a:cubicBezTo>
                  <a:cubicBezTo>
                    <a:pt x="0" y="655066"/>
                    <a:pt x="655066" y="0"/>
                    <a:pt x="1463040" y="0"/>
                  </a:cubicBezTo>
                  <a:close/>
                </a:path>
              </a:pathLst>
            </a:custGeom>
            <a:ln w="0" cap="flat">
              <a:miter lim="127000"/>
            </a:ln>
          </p:spPr>
          <p:style>
            <a:lnRef idx="0">
              <a:srgbClr val="000000">
                <a:alpha val="0"/>
              </a:srgbClr>
            </a:lnRef>
            <a:fillRef idx="1">
              <a:srgbClr val="1C7293">
                <a:alpha val="45098"/>
              </a:srgbClr>
            </a:fillRef>
            <a:effectRef idx="0">
              <a:scrgbClr r="0" g="0" b="0"/>
            </a:effectRef>
            <a:fontRef idx="none"/>
          </p:style>
          <p:txBody>
            <a:bodyPr/>
            <a:lstStyle/>
            <a:p>
              <a:endParaRPr lang="en-IN"/>
            </a:p>
          </p:txBody>
        </p:sp>
      </p:grpSp>
      <p:sp>
        <p:nvSpPr>
          <p:cNvPr id="8" name="Rectangle 5">
            <a:extLst>
              <a:ext uri="{FF2B5EF4-FFF2-40B4-BE49-F238E27FC236}">
                <a16:creationId xmlns:a16="http://schemas.microsoft.com/office/drawing/2014/main" id="{B5FA73E5-06DA-6551-6222-3329F1D8F6A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2358282" bIns="282486" numCol="1" anchor="ctr" anchorCtr="0" compatLnSpc="1">
            <a:prstTxWarp prst="textNoShape">
              <a:avLst/>
            </a:prstTxWarp>
            <a:spAutoFit/>
          </a:bodyPr>
          <a:lstStyle/>
          <a:p>
            <a:endParaRPr lang="en-IN"/>
          </a:p>
        </p:txBody>
      </p:sp>
      <p:sp>
        <p:nvSpPr>
          <p:cNvPr id="10" name="TextBox 9">
            <a:extLst>
              <a:ext uri="{FF2B5EF4-FFF2-40B4-BE49-F238E27FC236}">
                <a16:creationId xmlns:a16="http://schemas.microsoft.com/office/drawing/2014/main" id="{AF649995-3D55-D57E-93BD-4DAD2E29AC71}"/>
              </a:ext>
            </a:extLst>
          </p:cNvPr>
          <p:cNvSpPr txBox="1"/>
          <p:nvPr/>
        </p:nvSpPr>
        <p:spPr>
          <a:xfrm>
            <a:off x="6096000" y="2088197"/>
            <a:ext cx="4910667" cy="295465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Future Scope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AI-based container orchestration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Serverless containers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Edge computing integration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Green cloud computing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Improved cloud security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Intelligent auto-scaling</a:t>
            </a:r>
          </a:p>
          <a:p>
            <a:endParaRPr lang="en-IN" dirty="0"/>
          </a:p>
        </p:txBody>
      </p:sp>
    </p:spTree>
    <p:extLst>
      <p:ext uri="{BB962C8B-B14F-4D97-AF65-F5344CB8AC3E}">
        <p14:creationId xmlns:p14="http://schemas.microsoft.com/office/powerpoint/2010/main" val="1133902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9233F-692C-3907-DE20-F072EFB51D38}"/>
              </a:ext>
            </a:extLst>
          </p:cNvPr>
          <p:cNvSpPr>
            <a:spLocks noGrp="1"/>
          </p:cNvSpPr>
          <p:nvPr>
            <p:ph type="title"/>
          </p:nvPr>
        </p:nvSpPr>
        <p:spPr>
          <a:xfrm>
            <a:off x="181187" y="730768"/>
            <a:ext cx="8124613" cy="925665"/>
          </a:xfrm>
        </p:spPr>
        <p:txBody>
          <a:bodyPr>
            <a:normAutofit fontScale="90000"/>
          </a:bodyPr>
          <a:lstStyle/>
          <a:p>
            <a:br>
              <a:rPr lang="en-IN" sz="4000" b="1" dirty="0">
                <a:latin typeface="Times New Roman" panose="02020603050405020304" pitchFamily="18" charset="0"/>
                <a:cs typeface="Times New Roman" panose="02020603050405020304" pitchFamily="18" charset="0"/>
              </a:rPr>
            </a:br>
            <a:br>
              <a:rPr lang="en-IN" sz="40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CONCLUSION</a:t>
            </a:r>
            <a:br>
              <a:rPr lang="en-IN" b="1" dirty="0"/>
            </a:br>
            <a:endParaRPr lang="en-IN" dirty="0"/>
          </a:p>
        </p:txBody>
      </p:sp>
      <p:sp>
        <p:nvSpPr>
          <p:cNvPr id="3" name="Content Placeholder 2">
            <a:extLst>
              <a:ext uri="{FF2B5EF4-FFF2-40B4-BE49-F238E27FC236}">
                <a16:creationId xmlns:a16="http://schemas.microsoft.com/office/drawing/2014/main" id="{DF5B85CA-8231-E294-8F5D-CF6656398FEE}"/>
              </a:ext>
            </a:extLst>
          </p:cNvPr>
          <p:cNvSpPr>
            <a:spLocks noGrp="1"/>
          </p:cNvSpPr>
          <p:nvPr>
            <p:ph idx="1"/>
          </p:nvPr>
        </p:nvSpPr>
        <p:spPr>
          <a:xfrm>
            <a:off x="541866" y="1819546"/>
            <a:ext cx="11108268" cy="1394989"/>
          </a:xfrm>
        </p:spPr>
        <p:txBody>
          <a:bodyPr>
            <a:normAutofit/>
          </a:bodyPr>
          <a:lstStyle/>
          <a:p>
            <a:pPr marL="0" indent="0">
              <a:buNone/>
            </a:pPr>
            <a:r>
              <a:rPr lang="en-IN" sz="2000" dirty="0">
                <a:latin typeface="Times New Roman" panose="02020603050405020304" pitchFamily="18" charset="0"/>
                <a:cs typeface="Times New Roman" panose="02020603050405020304" pitchFamily="18" charset="0"/>
              </a:rPr>
              <a:t>Containerization and cloud-native applications have transformed software deployment by making applications lightweight, portable, scalable, and highly reliable. Technologies like Docker and Kubernetes help organizations deploy applications faster while reducing infrastructure costs and improving performance</a:t>
            </a:r>
            <a:r>
              <a:rPr lang="en-IN" sz="2000" dirty="0"/>
              <a:t>.</a:t>
            </a:r>
          </a:p>
        </p:txBody>
      </p:sp>
      <p:grpSp>
        <p:nvGrpSpPr>
          <p:cNvPr id="4" name="Group 3">
            <a:extLst>
              <a:ext uri="{FF2B5EF4-FFF2-40B4-BE49-F238E27FC236}">
                <a16:creationId xmlns:a16="http://schemas.microsoft.com/office/drawing/2014/main" id="{A334BCA5-B9B9-F470-A320-43EB3A4F8152}"/>
              </a:ext>
            </a:extLst>
          </p:cNvPr>
          <p:cNvGrpSpPr/>
          <p:nvPr/>
        </p:nvGrpSpPr>
        <p:grpSpPr>
          <a:xfrm>
            <a:off x="8869680" y="0"/>
            <a:ext cx="3322320" cy="3200400"/>
            <a:chOff x="0" y="0"/>
            <a:chExt cx="3322320" cy="3200400"/>
          </a:xfrm>
        </p:grpSpPr>
        <p:sp>
          <p:nvSpPr>
            <p:cNvPr id="5" name="Shape 7">
              <a:extLst>
                <a:ext uri="{FF2B5EF4-FFF2-40B4-BE49-F238E27FC236}">
                  <a16:creationId xmlns:a16="http://schemas.microsoft.com/office/drawing/2014/main" id="{21D9862C-D92F-3453-D5A2-CC1AF42809C5}"/>
                </a:ext>
              </a:extLst>
            </p:cNvPr>
            <p:cNvSpPr/>
            <p:nvPr/>
          </p:nvSpPr>
          <p:spPr>
            <a:xfrm>
              <a:off x="0" y="0"/>
              <a:ext cx="3322320" cy="3200400"/>
            </a:xfrm>
            <a:custGeom>
              <a:avLst/>
              <a:gdLst/>
              <a:ahLst/>
              <a:cxnLst/>
              <a:rect l="0" t="0" r="0" b="0"/>
              <a:pathLst>
                <a:path w="3322320" h="3200400">
                  <a:moveTo>
                    <a:pt x="190766" y="0"/>
                  </a:moveTo>
                  <a:lnTo>
                    <a:pt x="3322320" y="0"/>
                  </a:lnTo>
                  <a:lnTo>
                    <a:pt x="3322320" y="2951797"/>
                  </a:lnTo>
                  <a:lnTo>
                    <a:pt x="3277068" y="2974973"/>
                  </a:lnTo>
                  <a:cubicBezTo>
                    <a:pt x="2977254" y="3119440"/>
                    <a:pt x="2641080" y="3200400"/>
                    <a:pt x="2286000" y="3200400"/>
                  </a:cubicBezTo>
                  <a:cubicBezTo>
                    <a:pt x="1023493" y="3200400"/>
                    <a:pt x="0" y="2176907"/>
                    <a:pt x="0" y="914400"/>
                  </a:cubicBezTo>
                  <a:cubicBezTo>
                    <a:pt x="0" y="598773"/>
                    <a:pt x="63968" y="298085"/>
                    <a:pt x="179647" y="24593"/>
                  </a:cubicBezTo>
                  <a:lnTo>
                    <a:pt x="190766" y="0"/>
                  </a:lnTo>
                  <a:close/>
                </a:path>
              </a:pathLst>
            </a:custGeom>
            <a:ln w="0" cap="flat">
              <a:miter lim="127000"/>
            </a:ln>
          </p:spPr>
          <p:style>
            <a:lnRef idx="0">
              <a:srgbClr val="000000">
                <a:alpha val="0"/>
              </a:srgbClr>
            </a:lnRef>
            <a:fillRef idx="1">
              <a:srgbClr val="065A82">
                <a:alpha val="45098"/>
              </a:srgbClr>
            </a:fillRef>
            <a:effectRef idx="0">
              <a:scrgbClr r="0" g="0" b="0"/>
            </a:effectRef>
            <a:fontRef idx="none"/>
          </p:style>
          <p:txBody>
            <a:bodyPr/>
            <a:lstStyle/>
            <a:p>
              <a:endParaRPr lang="en-IN"/>
            </a:p>
          </p:txBody>
        </p:sp>
      </p:grpSp>
      <p:grpSp>
        <p:nvGrpSpPr>
          <p:cNvPr id="6" name="Group 5">
            <a:extLst>
              <a:ext uri="{FF2B5EF4-FFF2-40B4-BE49-F238E27FC236}">
                <a16:creationId xmlns:a16="http://schemas.microsoft.com/office/drawing/2014/main" id="{45C1B759-84B5-E7A2-0C06-7C951EAD8CFD}"/>
              </a:ext>
            </a:extLst>
          </p:cNvPr>
          <p:cNvGrpSpPr/>
          <p:nvPr/>
        </p:nvGrpSpPr>
        <p:grpSpPr>
          <a:xfrm>
            <a:off x="10515600" y="3840480"/>
            <a:ext cx="1676400" cy="2925445"/>
            <a:chOff x="0" y="0"/>
            <a:chExt cx="1676400" cy="2926079"/>
          </a:xfrm>
        </p:grpSpPr>
        <p:sp>
          <p:nvSpPr>
            <p:cNvPr id="7" name="Shape 8">
              <a:extLst>
                <a:ext uri="{FF2B5EF4-FFF2-40B4-BE49-F238E27FC236}">
                  <a16:creationId xmlns:a16="http://schemas.microsoft.com/office/drawing/2014/main" id="{5F59CBD7-CD14-1D48-BBA5-3B3EA06AEC2A}"/>
                </a:ext>
              </a:extLst>
            </p:cNvPr>
            <p:cNvSpPr/>
            <p:nvPr/>
          </p:nvSpPr>
          <p:spPr>
            <a:xfrm>
              <a:off x="0" y="0"/>
              <a:ext cx="1676400" cy="2926079"/>
            </a:xfrm>
            <a:custGeom>
              <a:avLst/>
              <a:gdLst/>
              <a:ahLst/>
              <a:cxnLst/>
              <a:rect l="0" t="0" r="0" b="0"/>
              <a:pathLst>
                <a:path w="1676400" h="2926079">
                  <a:moveTo>
                    <a:pt x="1463040" y="0"/>
                  </a:moveTo>
                  <a:cubicBezTo>
                    <a:pt x="1513539" y="0"/>
                    <a:pt x="1563440" y="2559"/>
                    <a:pt x="1612621" y="7554"/>
                  </a:cubicBezTo>
                  <a:lnTo>
                    <a:pt x="1676400" y="17289"/>
                  </a:lnTo>
                  <a:lnTo>
                    <a:pt x="1676400" y="2908791"/>
                  </a:lnTo>
                  <a:lnTo>
                    <a:pt x="1612621" y="2918525"/>
                  </a:lnTo>
                  <a:cubicBezTo>
                    <a:pt x="1563440" y="2923521"/>
                    <a:pt x="1513539" y="2926079"/>
                    <a:pt x="1463040" y="2926079"/>
                  </a:cubicBezTo>
                  <a:cubicBezTo>
                    <a:pt x="655066" y="2926079"/>
                    <a:pt x="0" y="2271052"/>
                    <a:pt x="0" y="1463040"/>
                  </a:cubicBezTo>
                  <a:cubicBezTo>
                    <a:pt x="0" y="655066"/>
                    <a:pt x="655066" y="0"/>
                    <a:pt x="1463040" y="0"/>
                  </a:cubicBezTo>
                  <a:close/>
                </a:path>
              </a:pathLst>
            </a:custGeom>
            <a:ln w="0" cap="flat">
              <a:miter lim="127000"/>
            </a:ln>
          </p:spPr>
          <p:style>
            <a:lnRef idx="0">
              <a:srgbClr val="000000">
                <a:alpha val="0"/>
              </a:srgbClr>
            </a:lnRef>
            <a:fillRef idx="1">
              <a:srgbClr val="1C7293">
                <a:alpha val="45098"/>
              </a:srgbClr>
            </a:fillRef>
            <a:effectRef idx="0">
              <a:scrgbClr r="0" g="0" b="0"/>
            </a:effectRef>
            <a:fontRef idx="none"/>
          </p:style>
          <p:txBody>
            <a:bodyPr/>
            <a:lstStyle/>
            <a:p>
              <a:endParaRPr lang="en-IN"/>
            </a:p>
          </p:txBody>
        </p:sp>
      </p:grpSp>
      <p:sp>
        <p:nvSpPr>
          <p:cNvPr id="8" name="Rectangle 5">
            <a:extLst>
              <a:ext uri="{FF2B5EF4-FFF2-40B4-BE49-F238E27FC236}">
                <a16:creationId xmlns:a16="http://schemas.microsoft.com/office/drawing/2014/main" id="{64AF8092-EBAD-0741-1FE9-8ACA3DCDDE6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2358282" bIns="282486" numCol="1" anchor="ctr" anchorCtr="0" compatLnSpc="1">
            <a:prstTxWarp prst="textNoShape">
              <a:avLst/>
            </a:prstTxWarp>
            <a:spAutoFit/>
          </a:bodyPr>
          <a:lstStyle/>
          <a:p>
            <a:endParaRPr lang="en-IN"/>
          </a:p>
        </p:txBody>
      </p:sp>
      <p:sp>
        <p:nvSpPr>
          <p:cNvPr id="10" name="TextBox 9">
            <a:extLst>
              <a:ext uri="{FF2B5EF4-FFF2-40B4-BE49-F238E27FC236}">
                <a16:creationId xmlns:a16="http://schemas.microsoft.com/office/drawing/2014/main" id="{E4B128DD-5BB9-E941-DBFA-4C8DAB83807F}"/>
              </a:ext>
            </a:extLst>
          </p:cNvPr>
          <p:cNvSpPr txBox="1"/>
          <p:nvPr/>
        </p:nvSpPr>
        <p:spPr>
          <a:xfrm>
            <a:off x="291254" y="3255705"/>
            <a:ext cx="756073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KEYWORDS</a:t>
            </a:r>
          </a:p>
        </p:txBody>
      </p:sp>
      <p:sp>
        <p:nvSpPr>
          <p:cNvPr id="11" name="TextBox 10">
            <a:extLst>
              <a:ext uri="{FF2B5EF4-FFF2-40B4-BE49-F238E27FC236}">
                <a16:creationId xmlns:a16="http://schemas.microsoft.com/office/drawing/2014/main" id="{3D042F29-214D-A78B-4BAA-74069BDBEB13}"/>
              </a:ext>
            </a:extLst>
          </p:cNvPr>
          <p:cNvSpPr txBox="1"/>
          <p:nvPr/>
        </p:nvSpPr>
        <p:spPr>
          <a:xfrm>
            <a:off x="778933" y="4047067"/>
            <a:ext cx="9736667" cy="2246769"/>
          </a:xfrm>
          <a:prstGeom prst="rect">
            <a:avLst/>
          </a:prstGeom>
          <a:noFill/>
        </p:spPr>
        <p:txBody>
          <a:bodyPr wrap="square" rtlCol="0">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Containers package applications with all dependencies.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Cloud-native applications are designed specifically for cloud platforms.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Docker enables container creation.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Kubernetes manages and scales containers automatically.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Many global companies like Netflix, Google, and Amazon use containerization.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Containerization is a key technology driving modern cloud computing and DevOps practices.</a:t>
            </a:r>
          </a:p>
        </p:txBody>
      </p:sp>
    </p:spTree>
    <p:extLst>
      <p:ext uri="{BB962C8B-B14F-4D97-AF65-F5344CB8AC3E}">
        <p14:creationId xmlns:p14="http://schemas.microsoft.com/office/powerpoint/2010/main" val="6131453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512</Words>
  <Application>Microsoft Office PowerPoint</Application>
  <PresentationFormat>Widescreen</PresentationFormat>
  <Paragraphs>113</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Calibri</vt:lpstr>
      <vt:lpstr>Cambria</vt:lpstr>
      <vt:lpstr>Times New Roman</vt:lpstr>
      <vt:lpstr>Office Theme</vt:lpstr>
      <vt:lpstr>Containerization and Cloud-Native  Applications: Transforming Modern Software Deployment </vt:lpstr>
      <vt:lpstr>PowerPoint Presentation</vt:lpstr>
      <vt:lpstr> Cloud-Native Architecture </vt:lpstr>
      <vt:lpstr>Benefits: Advantages of Containerization </vt:lpstr>
      <vt:lpstr>PowerPoint Presentation</vt:lpstr>
      <vt:lpstr>Netflix Container Deployment</vt:lpstr>
      <vt:lpstr>Limitations and Future Scope</vt:lpstr>
      <vt:lpstr>  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Bhuvaneshwari J</dc:creator>
  <cp:lastModifiedBy>Bhuvaneshwari J</cp:lastModifiedBy>
  <cp:revision>1</cp:revision>
  <dcterms:created xsi:type="dcterms:W3CDTF">2026-07-22T16:08:07Z</dcterms:created>
  <dcterms:modified xsi:type="dcterms:W3CDTF">2026-07-22T16:35:29Z</dcterms:modified>
</cp:coreProperties>
</file>